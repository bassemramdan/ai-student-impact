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0" d="100"/>
          <a:sy n="210" d="100"/>
        </p:scale>
        <p:origin x="3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Predicted GPA</c:v>
                </c:pt>
              </c:strCache>
            </c:strRef>
          </c:tx>
          <c:spPr>
            <a:ln>
              <a:noFill/>
            </a:ln>
            <a:effectLst/>
          </c:spPr>
          <c:marker>
            <c:symbol val="circle"/>
            <c:size val="6"/>
            <c:spPr>
              <a:solidFill>
                <a:srgbClr val="1A2E38"/>
              </a:solidFill>
              <a:ln w="9525" cap="flat">
                <a:solidFill>
                  <a:srgbClr val="1A2E38"/>
                </a:solidFill>
                <a:prstDash val="solid"/>
                <a:round/>
              </a:ln>
              <a:effectLst/>
            </c:spPr>
          </c:marker>
          <c:xVal>
            <c:numRef>
              <c:f>Sheet1!$A$2:$A$23</c:f>
              <c:numCache>
                <c:formatCode>General</c:formatCode>
                <c:ptCount val="22"/>
                <c:pt idx="0">
                  <c:v>2.2000931330026066</c:v>
                </c:pt>
                <c:pt idx="1">
                  <c:v>2.2916084151636888</c:v>
                </c:pt>
                <c:pt idx="2">
                  <c:v>2.5579365692640996</c:v>
                </c:pt>
                <c:pt idx="3">
                  <c:v>2.6114081146767441</c:v>
                </c:pt>
                <c:pt idx="4">
                  <c:v>2.6917033335582388</c:v>
                </c:pt>
                <c:pt idx="5">
                  <c:v>2.7598309324214525</c:v>
                </c:pt>
                <c:pt idx="6">
                  <c:v>2.8361934565344766</c:v>
                </c:pt>
                <c:pt idx="7">
                  <c:v>2.9954226260496517</c:v>
                </c:pt>
                <c:pt idx="8">
                  <c:v>3.1056143169343606</c:v>
                </c:pt>
                <c:pt idx="9">
                  <c:v>3.122845461333958</c:v>
                </c:pt>
                <c:pt idx="10">
                  <c:v>3.2810548273204407</c:v>
                </c:pt>
                <c:pt idx="11">
                  <c:v>3.3626462437330247</c:v>
                </c:pt>
                <c:pt idx="12">
                  <c:v>3.3636747218795815</c:v>
                </c:pt>
                <c:pt idx="13">
                  <c:v>3.3866776702801493</c:v>
                </c:pt>
                <c:pt idx="14">
                  <c:v>3.4034323004572022</c:v>
                </c:pt>
                <c:pt idx="15">
                  <c:v>3.4399301249905774</c:v>
                </c:pt>
                <c:pt idx="16">
                  <c:v>3.4784901305367146</c:v>
                </c:pt>
                <c:pt idx="17">
                  <c:v>3.4836272292617965</c:v>
                </c:pt>
                <c:pt idx="18">
                  <c:v>3.5725952769374434</c:v>
                </c:pt>
                <c:pt idx="19">
                  <c:v>3.5884876185920906</c:v>
                </c:pt>
                <c:pt idx="20">
                  <c:v>3.7652996788409538</c:v>
                </c:pt>
                <c:pt idx="21">
                  <c:v>3.7680830959864737</c:v>
                </c:pt>
              </c:numCache>
            </c:numRef>
          </c:xVal>
          <c:yVal>
            <c:numRef>
              <c:f>Sheet1!$B$2:$B$23</c:f>
              <c:numCache>
                <c:formatCode>General</c:formatCode>
                <c:ptCount val="22"/>
                <c:pt idx="0">
                  <c:v>2.0944873528876227</c:v>
                </c:pt>
                <c:pt idx="1">
                  <c:v>2.29526394476673</c:v>
                </c:pt>
                <c:pt idx="2">
                  <c:v>2.6764236746508852</c:v>
                </c:pt>
                <c:pt idx="3">
                  <c:v>2.6641885187050223</c:v>
                </c:pt>
                <c:pt idx="4">
                  <c:v>2.7319545193966057</c:v>
                </c:pt>
                <c:pt idx="5">
                  <c:v>2.7815120984721111</c:v>
                </c:pt>
                <c:pt idx="6">
                  <c:v>2.9515521959509257</c:v>
                </c:pt>
                <c:pt idx="7">
                  <c:v>3.1097561911491272</c:v>
                </c:pt>
                <c:pt idx="8">
                  <c:v>3.0698431446122409</c:v>
                </c:pt>
                <c:pt idx="9">
                  <c:v>3.07675361903082</c:v>
                </c:pt>
                <c:pt idx="10">
                  <c:v>3.3754626948809836</c:v>
                </c:pt>
                <c:pt idx="11">
                  <c:v>3.3156766905129671</c:v>
                </c:pt>
                <c:pt idx="12">
                  <c:v>3.2663952155563933</c:v>
                </c:pt>
                <c:pt idx="13">
                  <c:v>3.3300167534034859</c:v>
                </c:pt>
                <c:pt idx="14">
                  <c:v>3.3834038934422694</c:v>
                </c:pt>
                <c:pt idx="15">
                  <c:v>3.3824946773634248</c:v>
                </c:pt>
                <c:pt idx="16">
                  <c:v>3.6009234061752662</c:v>
                </c:pt>
                <c:pt idx="17">
                  <c:v>3.4996910238263115</c:v>
                </c:pt>
                <c:pt idx="18">
                  <c:v>3.6367914926789626</c:v>
                </c:pt>
                <c:pt idx="19">
                  <c:v>3.6942861795558466</c:v>
                </c:pt>
                <c:pt idx="20">
                  <c:v>3.641714064238327</c:v>
                </c:pt>
                <c:pt idx="21">
                  <c:v>3.704660532460232</c:v>
                </c:pt>
              </c:numCache>
            </c:numRef>
          </c:yVal>
          <c:smooth val="0"/>
          <c:extLst>
            <c:ext xmlns:c16="http://schemas.microsoft.com/office/drawing/2014/chart" uri="{C3380CC4-5D6E-409C-BE32-E72D297353CC}">
              <c16:uniqueId val="{00000000-FE0D-4E3A-A35F-1B8541E75E12}"/>
            </c:ext>
          </c:extLst>
        </c:ser>
        <c:ser>
          <c:idx val="1"/>
          <c:order val="1"/>
          <c:tx>
            <c:strRef>
              <c:f>Sheet1!$C$1</c:f>
              <c:strCache>
                <c:ptCount val="1"/>
                <c:pt idx="0">
                  <c:v>Ideal Fit</c:v>
                </c:pt>
              </c:strCache>
            </c:strRef>
          </c:tx>
          <c:spPr>
            <a:ln>
              <a:noFill/>
            </a:ln>
            <a:effectLst/>
          </c:spPr>
          <c:marker>
            <c:symbol val="circle"/>
            <c:size val="6"/>
            <c:spPr>
              <a:solidFill>
                <a:srgbClr val="00D2FF"/>
              </a:solidFill>
              <a:ln w="9525" cap="flat">
                <a:solidFill>
                  <a:srgbClr val="00D2FF"/>
                </a:solidFill>
                <a:prstDash val="solid"/>
                <a:round/>
              </a:ln>
              <a:effectLst/>
            </c:spPr>
          </c:marker>
          <c:xVal>
            <c:numRef>
              <c:f>Sheet1!$A$2:$A$23</c:f>
              <c:numCache>
                <c:formatCode>General</c:formatCode>
                <c:ptCount val="22"/>
                <c:pt idx="0">
                  <c:v>2.2000931330026066</c:v>
                </c:pt>
                <c:pt idx="1">
                  <c:v>2.2916084151636888</c:v>
                </c:pt>
                <c:pt idx="2">
                  <c:v>2.5579365692640996</c:v>
                </c:pt>
                <c:pt idx="3">
                  <c:v>2.6114081146767441</c:v>
                </c:pt>
                <c:pt idx="4">
                  <c:v>2.6917033335582388</c:v>
                </c:pt>
                <c:pt idx="5">
                  <c:v>2.7598309324214525</c:v>
                </c:pt>
                <c:pt idx="6">
                  <c:v>2.8361934565344766</c:v>
                </c:pt>
                <c:pt idx="7">
                  <c:v>2.9954226260496517</c:v>
                </c:pt>
                <c:pt idx="8">
                  <c:v>3.1056143169343606</c:v>
                </c:pt>
                <c:pt idx="9">
                  <c:v>3.122845461333958</c:v>
                </c:pt>
                <c:pt idx="10">
                  <c:v>3.2810548273204407</c:v>
                </c:pt>
                <c:pt idx="11">
                  <c:v>3.3626462437330247</c:v>
                </c:pt>
                <c:pt idx="12">
                  <c:v>3.3636747218795815</c:v>
                </c:pt>
                <c:pt idx="13">
                  <c:v>3.3866776702801493</c:v>
                </c:pt>
                <c:pt idx="14">
                  <c:v>3.4034323004572022</c:v>
                </c:pt>
                <c:pt idx="15">
                  <c:v>3.4399301249905774</c:v>
                </c:pt>
                <c:pt idx="16">
                  <c:v>3.4784901305367146</c:v>
                </c:pt>
                <c:pt idx="17">
                  <c:v>3.4836272292617965</c:v>
                </c:pt>
                <c:pt idx="18">
                  <c:v>3.5725952769374434</c:v>
                </c:pt>
                <c:pt idx="19">
                  <c:v>3.5884876185920906</c:v>
                </c:pt>
                <c:pt idx="20">
                  <c:v>3.7652996788409538</c:v>
                </c:pt>
                <c:pt idx="21">
                  <c:v>3.7680830959864737</c:v>
                </c:pt>
              </c:numCache>
            </c:numRef>
          </c:xVal>
          <c:yVal>
            <c:numRef>
              <c:f>Sheet1!$C$2:$C$23</c:f>
              <c:numCache>
                <c:formatCode>General</c:formatCode>
                <c:ptCount val="22"/>
                <c:pt idx="0">
                  <c:v>2.2000931330026066</c:v>
                </c:pt>
                <c:pt idx="1">
                  <c:v>2.2916084151636888</c:v>
                </c:pt>
                <c:pt idx="2">
                  <c:v>2.5579365692640996</c:v>
                </c:pt>
                <c:pt idx="3">
                  <c:v>2.6114081146767441</c:v>
                </c:pt>
                <c:pt idx="4">
                  <c:v>2.6917033335582388</c:v>
                </c:pt>
                <c:pt idx="5">
                  <c:v>2.7598309324214525</c:v>
                </c:pt>
                <c:pt idx="6">
                  <c:v>2.8361934565344766</c:v>
                </c:pt>
                <c:pt idx="7">
                  <c:v>2.9954226260496517</c:v>
                </c:pt>
                <c:pt idx="8">
                  <c:v>3.1056143169343606</c:v>
                </c:pt>
                <c:pt idx="9">
                  <c:v>3.122845461333958</c:v>
                </c:pt>
                <c:pt idx="10">
                  <c:v>3.2810548273204407</c:v>
                </c:pt>
                <c:pt idx="11">
                  <c:v>3.3626462437330247</c:v>
                </c:pt>
                <c:pt idx="12">
                  <c:v>3.3636747218795815</c:v>
                </c:pt>
                <c:pt idx="13">
                  <c:v>3.3866776702801493</c:v>
                </c:pt>
                <c:pt idx="14">
                  <c:v>3.4034323004572022</c:v>
                </c:pt>
                <c:pt idx="15">
                  <c:v>3.4399301249905774</c:v>
                </c:pt>
                <c:pt idx="16">
                  <c:v>3.4784901305367146</c:v>
                </c:pt>
                <c:pt idx="17">
                  <c:v>3.4836272292617965</c:v>
                </c:pt>
                <c:pt idx="18">
                  <c:v>3.5725952769374434</c:v>
                </c:pt>
                <c:pt idx="19">
                  <c:v>3.5884876185920906</c:v>
                </c:pt>
                <c:pt idx="20">
                  <c:v>3.7652996788409538</c:v>
                </c:pt>
                <c:pt idx="21">
                  <c:v>3.7680830959864737</c:v>
                </c:pt>
              </c:numCache>
            </c:numRef>
          </c:yVal>
          <c:smooth val="0"/>
          <c:extLst>
            <c:ext xmlns:c16="http://schemas.microsoft.com/office/drawing/2014/chart" uri="{C3380CC4-5D6E-409C-BE32-E72D297353CC}">
              <c16:uniqueId val="{00000001-FE0D-4E3A-A35F-1B8541E75E12}"/>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sz="900" b="0" i="0" u="none" strike="noStrike">
                    <a:solidFill>
                      <a:srgbClr val="9FB4BD"/>
                    </a:solidFill>
                    <a:latin typeface="Arial"/>
                  </a:defRPr>
                </a:pPr>
                <a:r>
                  <a:rPr sz="900" b="0" i="0" u="none" strike="noStrike">
                    <a:solidFill>
                      <a:srgbClr val="9FB4BD"/>
                    </a:solidFill>
                    <a:latin typeface="Arial"/>
                  </a:rPr>
                  <a:t>Actual GPA</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9FB4BD"/>
                </a:solidFill>
                <a:latin typeface="Arial"/>
              </a:defRPr>
            </a:pPr>
            <a:endParaRPr lang="en-US"/>
          </a:p>
        </c:txPr>
        <c:crossAx val="2094734552"/>
        <c:crosses val="autoZero"/>
        <c:crossBetween val="midCat"/>
      </c:valAx>
      <c:valAx>
        <c:axId val="2094734552"/>
        <c:scaling>
          <c:orientation val="minMax"/>
        </c:scaling>
        <c:delete val="0"/>
        <c:axPos val="l"/>
        <c:majorGridlines>
          <c:spPr>
            <a:ln w="6350" cap="flat">
              <a:solidFill>
                <a:srgbClr val="2E4550"/>
              </a:solidFill>
              <a:prstDash val="solid"/>
              <a:round/>
            </a:ln>
          </c:spPr>
        </c:majorGridlines>
        <c:title>
          <c:tx>
            <c:rich>
              <a:bodyPr/>
              <a:lstStyle/>
              <a:p>
                <a:pPr>
                  <a:defRPr sz="900" b="0" i="0" u="none" strike="noStrike">
                    <a:solidFill>
                      <a:srgbClr val="9FB4BD"/>
                    </a:solidFill>
                    <a:latin typeface="Arial"/>
                  </a:defRPr>
                </a:pPr>
                <a:r>
                  <a:rPr sz="900" b="0" i="0" u="none" strike="noStrike">
                    <a:solidFill>
                      <a:srgbClr val="9FB4BD"/>
                    </a:solidFill>
                    <a:latin typeface="Arial"/>
                  </a:rPr>
                  <a:t>Predicted GPA</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9FB4BD"/>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850">
              <a:solidFill>
                <a:srgbClr val="9FB4BD"/>
              </a:solidFill>
            </a:defRPr>
          </a:pPr>
          <a:endParaRPr lang="en-US"/>
        </a:p>
      </c:txPr>
    </c:legend>
    <c:plotVisOnly val="1"/>
    <c:dispBlanksAs val="span"/>
    <c:showDLblsOverMax val="1"/>
  </c:chart>
  <c:spPr>
    <a:solidFill>
      <a:srgbClr val="FFFFFF">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Students (%)</c:v>
                </c:pt>
              </c:strCache>
            </c:strRef>
          </c:tx>
          <c:spPr>
            <a:solidFill>
              <a:srgbClr val="39FF14"/>
            </a:solidFill>
            <a:effectLst/>
          </c:spPr>
          <c:invertIfNegative val="0"/>
          <c:dPt>
            <c:idx val="0"/>
            <c:invertIfNegative val="0"/>
            <c:bubble3D val="0"/>
            <c:extLst>
              <c:ext xmlns:c16="http://schemas.microsoft.com/office/drawing/2014/chart" uri="{C3380CC4-5D6E-409C-BE32-E72D297353CC}">
                <c16:uniqueId val="{00000001-29A3-4351-97E4-B6373A044128}"/>
              </c:ext>
            </c:extLst>
          </c:dPt>
          <c:dPt>
            <c:idx val="1"/>
            <c:invertIfNegative val="0"/>
            <c:bubble3D val="0"/>
            <c:spPr>
              <a:solidFill>
                <a:srgbClr val="00D2FF"/>
              </a:solidFill>
              <a:effectLst/>
            </c:spPr>
            <c:extLst>
              <c:ext xmlns:c16="http://schemas.microsoft.com/office/drawing/2014/chart" uri="{C3380CC4-5D6E-409C-BE32-E72D297353CC}">
                <c16:uniqueId val="{00000003-29A3-4351-97E4-B6373A044128}"/>
              </c:ext>
            </c:extLst>
          </c:dPt>
          <c:dPt>
            <c:idx val="2"/>
            <c:invertIfNegative val="0"/>
            <c:bubble3D val="0"/>
            <c:spPr>
              <a:solidFill>
                <a:srgbClr val="FF007F"/>
              </a:solidFill>
              <a:effectLst/>
            </c:spPr>
            <c:extLst>
              <c:ext xmlns:c16="http://schemas.microsoft.com/office/drawing/2014/chart" uri="{C3380CC4-5D6E-409C-BE32-E72D297353CC}">
                <c16:uniqueId val="{00000005-29A3-4351-97E4-B6373A044128}"/>
              </c:ext>
            </c:extLst>
          </c:dPt>
          <c:dLbls>
            <c:numFmt formatCode="#,##0" sourceLinked="0"/>
            <c:spPr>
              <a:noFill/>
              <a:ln>
                <a:noFill/>
              </a:ln>
              <a:effectLst/>
            </c:spPr>
            <c:txPr>
              <a:bodyPr/>
              <a:lstStyle/>
              <a:p>
                <a:pPr>
                  <a:defRPr sz="1000" b="0" i="0" u="none" strike="noStrike">
                    <a:solidFill>
                      <a:srgbClr val="F4FBF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 Risk</c:v>
                </c:pt>
                <c:pt idx="1">
                  <c:v>Medium Risk</c:v>
                </c:pt>
                <c:pt idx="2">
                  <c:v>High Risk</c:v>
                </c:pt>
              </c:strCache>
            </c:strRef>
          </c:cat>
          <c:val>
            <c:numRef>
              <c:f>Sheet1!$B$2:$B$4</c:f>
              <c:numCache>
                <c:formatCode>General</c:formatCode>
                <c:ptCount val="3"/>
                <c:pt idx="0">
                  <c:v>44</c:v>
                </c:pt>
                <c:pt idx="1">
                  <c:v>37</c:v>
                </c:pt>
                <c:pt idx="2">
                  <c:v>19</c:v>
                </c:pt>
              </c:numCache>
            </c:numRef>
          </c:val>
          <c:extLst>
            <c:ext xmlns:c16="http://schemas.microsoft.com/office/drawing/2014/chart" uri="{C3380CC4-5D6E-409C-BE32-E72D297353CC}">
              <c16:uniqueId val="{00000006-29A3-4351-97E4-B6373A04412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4BD"/>
                </a:solidFill>
                <a:latin typeface="Arial"/>
              </a:defRPr>
            </a:pPr>
            <a:endParaRPr lang="en-US"/>
          </a:p>
        </c:txPr>
        <c:crossAx val="2094734552"/>
        <c:crosses val="autoZero"/>
        <c:auto val="1"/>
        <c:lblAlgn val="ctr"/>
        <c:lblOffset val="100"/>
        <c:noMultiLvlLbl val="1"/>
      </c:catAx>
      <c:valAx>
        <c:axId val="2094734552"/>
        <c:scaling>
          <c:orientation val="minMax"/>
          <c:max val="55"/>
        </c:scaling>
        <c:delete val="0"/>
        <c:axPos val="l"/>
        <c:majorGridlines>
          <c:spPr>
            <a:ln w="6350" cap="flat">
              <a:solidFill>
                <a:srgbClr val="2E455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FB4BD"/>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1251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This project is an end-to-end machine learning case study exploring how Generative AI tools like ChatGPT and Claude are reshaping student life. We'll walk through the problem, the data, the models we built (regression, classification, clustering), and the final interactive dashboard. Set the tone: this is a data-driven investigation, not speculation — every claim on later slides is backed by a model or a statistic.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core research problem. Generative AI tools like ChatGPT and Claude have become part of daily student life almost overnight, but our understanding of their impact is still built on anecdotes and assumptions rather than evidence. This project asks three concrete questions: (1) how does GenAI usage genuinely affect GPA, (2) does it erode foundational skill retention as students offload cognitive effort, and (3) is there a measurable link between AI dependency, anxiety, and burnout. Emphasize that the rest of the deck systematically answers these three questions using real modeling techniques, not opinion.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raw dataset that powers every model in the deck. We collected diverse student-level features spanning traditional study hours, weekly GenAI usage hours, self-reported anxiety levels, GPA, skill assessment scores, and sleep patterns, across a wide range of majors. The correlation heatmap on the right reveals the first data-driven signals: GenAI hours correlate positively with anxiety and burnout index, and negatively with traditional study hours and skill retention — while study hours and GPA move together positively. Mention that a distribution histogram of AI usage across majors was also explored, showing STEM and Business majors cluster at higher weekly GenAI hours than Humanities.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columns like 'hours studied' or 'anxiety score' only tell part of the story, so we engineered three composite KPIs. AI Usage Ratio normalizes GenAI hours against total study effort, revealing dependency rather than just volume. Burnout Index combines anxiety, AI dependency, and sleep debt into a single psychological-strain score. Study Efficiency measures GPA gain per hour of traditional, non-AI-assisted study, isolating the value of focused human effort. These three engineered features become the strongest predictors in every downstream model — stronger than any single raw feature.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XGBoost Regressor models were trained: one predicting Post-Semester GPA and another predicting a Skill Retention Score, both using the engineered KPIs alongside raw behavioral and demographic features. The scatter plot shows Actual vs Predicted GPA on the holdout test set, with points hugging a neon ideal-fit line — indicating strong predictive accuracy and low residual error. Highlight that AI Usage Ratio and Burnout Index were the top two feature-importance drivers in the GPA model, confirming the engineered features from the previous slide were worth building.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actionable early-warning insight, we trained an XGBoost Classifier that sorts students into Low, Medium, or High burnout-risk tiers, driven mainly by anxiety levels and AI dependency (AI Usage Ratio). The model reaches 94.2% accuracy and a 0.93 weighted F1-score on the held-out test set, meaning it reliably distinguishes risk tiers even with class imbalance. The bar chart shows the predicted distribution across the full student population: 44% Low risk, 37% Medium, and 19% High risk — that High-risk 19% is the population the dashboard flags for early intervention.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supervised to unsupervised learning, we applied K-Means clustering on the engineered feature space (AI Usage Ratio, Burnout Index, Study Efficiency, plus raw behavioral features), then reduced dimensionality with PCA for visualization. The optimal cluster count of 8 was selected using the elbow method and silhouette score. Each cluster maps to an intuitive persona — for example 'AI Pioneers' lean heavily on GenAI but maintain strong grades, 'Traditional Scholars' barely touch AI tools, and 'Hyper-dependent' students show the highest burnout and lowest skill retention. These personas become the backbone of the personalization logic in the dashboard — each student sees recommendations tailored to their persona.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models above are packaged into a fully interactive, responsive Streamlit web application so the analysis doesn't stay locked in a notebook. The UI carries the same cyberpunk glassmorphism language as this deck: glowing translucent cards, neon KPI callouts, and a real-time prediction form where an advisor can input a student's study hours and GenAI usage to instantly get a predicted GPA, skill retention score, and burnout risk tier. Dynamic filtering lets users slice the population by major, year, or persona cluster, making the eight personas from the previous slide fully explorable and actionable.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everything together: balanced, moderate AI usage is associated with a real GPA lift compared to non-users — GenAI genuinely helps when used as a supplement. But the relationship is non-linear: past a certain usage threshold, foundational skill retention drops sharply, and the Burnout Index climbs fastest specifically within the Hyper-dependent persona cluster. The biggest meta-takeaway is that population averages are misleading — the eight personas show wildly different outcomes, which is exactly why the dashboard's persona-level personalization matters more than any single headline statistic.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central thesis: this project's evidence doesn't support an 'AI vs human' framing — it supports 'AI plus human,' where Generative AI acts as a force multiplier for students who use it intentionally, and a liability for those who over-rely on it. Reiterate that the entire pipeline — EDA, feature engineering, regression, classification, clustering, and the Streamlit dashboard — was built to give educators and students the tools to find that balance for themselves, not to prescribe a one-size-fits-all rule. Thank the audience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brain.png"/>
          <p:cNvPicPr>
            <a:picLocks noChangeAspect="1"/>
          </p:cNvPicPr>
          <p:nvPr/>
        </p:nvPicPr>
        <p:blipFill>
          <a:blip r:embed="rId4"/>
          <a:stretch>
            <a:fillRect/>
          </a:stretch>
        </p:blipFill>
        <p:spPr>
          <a:xfrm>
            <a:off x="5074920" y="502920"/>
            <a:ext cx="3977640" cy="3977640"/>
          </a:xfrm>
          <a:prstGeom prst="rect">
            <a:avLst/>
          </a:prstGeom>
        </p:spPr>
      </p:pic>
      <p:sp>
        <p:nvSpPr>
          <p:cNvPr id="3" name="Text 0"/>
          <p:cNvSpPr/>
          <p:nvPr/>
        </p:nvSpPr>
        <p:spPr>
          <a:xfrm>
            <a:off x="548640" y="685800"/>
            <a:ext cx="4937760" cy="292608"/>
          </a:xfrm>
          <a:prstGeom prst="rect">
            <a:avLst/>
          </a:prstGeom>
          <a:noFill/>
          <a:ln/>
        </p:spPr>
        <p:txBody>
          <a:bodyPr wrap="square" rtlCol="0" anchor="ctr"/>
          <a:lstStyle/>
          <a:p>
            <a:pPr marL="0" indent="0">
              <a:buNone/>
            </a:pPr>
            <a:r>
              <a:rPr lang="en-US" sz="1200" b="1" kern="0" spc="300" dirty="0">
                <a:solidFill>
                  <a:srgbClr val="39FF14"/>
                </a:solidFill>
                <a:latin typeface="Calibri" pitchFamily="34" charset="0"/>
                <a:ea typeface="Calibri" pitchFamily="34" charset="-122"/>
                <a:cs typeface="Calibri" pitchFamily="34" charset="-120"/>
              </a:rPr>
              <a:t>MACHINE LEARNING  ·  END-TO-END PROJECT</a:t>
            </a:r>
            <a:endParaRPr lang="en-US" sz="1200" dirty="0"/>
          </a:p>
        </p:txBody>
      </p:sp>
      <p:sp>
        <p:nvSpPr>
          <p:cNvPr id="4" name="Text 1"/>
          <p:cNvSpPr/>
          <p:nvPr/>
        </p:nvSpPr>
        <p:spPr>
          <a:xfrm>
            <a:off x="502920" y="1051560"/>
            <a:ext cx="5120640" cy="1737360"/>
          </a:xfrm>
          <a:prstGeom prst="rect">
            <a:avLst/>
          </a:prstGeom>
          <a:noFill/>
          <a:ln/>
        </p:spPr>
        <p:txBody>
          <a:bodyPr wrap="square" rtlCol="0" anchor="ctr"/>
          <a:lstStyle/>
          <a:p>
            <a:pPr marL="0" indent="0">
              <a:lnSpc>
                <a:spcPct val="102000"/>
              </a:lnSpc>
              <a:buNone/>
            </a:pPr>
            <a:r>
              <a:rPr lang="en-US" sz="4000" b="1" dirty="0">
                <a:solidFill>
                  <a:srgbClr val="F4FBFD"/>
                </a:solidFill>
                <a:latin typeface="Century Schoolbook" pitchFamily="34" charset="0"/>
                <a:ea typeface="Century Schoolbook" pitchFamily="34" charset="-122"/>
                <a:cs typeface="Century Schoolbook" pitchFamily="34" charset="-120"/>
              </a:rPr>
              <a:t>AI STUDENT</a:t>
            </a:r>
            <a:endParaRPr lang="en-US" sz="4000" dirty="0"/>
          </a:p>
          <a:p>
            <a:pPr marL="0" indent="0">
              <a:lnSpc>
                <a:spcPct val="102000"/>
              </a:lnSpc>
              <a:buNone/>
            </a:pPr>
            <a:r>
              <a:rPr lang="en-US" sz="4000" b="1" dirty="0">
                <a:solidFill>
                  <a:srgbClr val="F4FBFD"/>
                </a:solidFill>
                <a:latin typeface="Century Schoolbook" pitchFamily="34" charset="0"/>
                <a:ea typeface="Century Schoolbook" pitchFamily="34" charset="-122"/>
                <a:cs typeface="Century Schoolbook" pitchFamily="34" charset="-120"/>
              </a:rPr>
              <a:t>IMPACT ANALYSIS</a:t>
            </a:r>
            <a:endParaRPr lang="en-US" sz="4000" dirty="0"/>
          </a:p>
        </p:txBody>
      </p:sp>
      <p:sp>
        <p:nvSpPr>
          <p:cNvPr id="5" name="Shape 2"/>
          <p:cNvSpPr/>
          <p:nvPr/>
        </p:nvSpPr>
        <p:spPr>
          <a:xfrm>
            <a:off x="530352" y="2788920"/>
            <a:ext cx="502920" cy="0"/>
          </a:xfrm>
          <a:prstGeom prst="line">
            <a:avLst/>
          </a:prstGeom>
          <a:noFill/>
          <a:ln w="38100">
            <a:solidFill>
              <a:srgbClr val="00D2FF"/>
            </a:solidFill>
            <a:prstDash val="solid"/>
          </a:ln>
        </p:spPr>
        <p:txBody>
          <a:bodyPr/>
          <a:lstStyle/>
          <a:p>
            <a:endParaRPr lang="en-US"/>
          </a:p>
        </p:txBody>
      </p:sp>
      <p:sp>
        <p:nvSpPr>
          <p:cNvPr id="6" name="Shape 3"/>
          <p:cNvSpPr/>
          <p:nvPr/>
        </p:nvSpPr>
        <p:spPr>
          <a:xfrm>
            <a:off x="1097280" y="2788920"/>
            <a:ext cx="256032" cy="0"/>
          </a:xfrm>
          <a:prstGeom prst="line">
            <a:avLst/>
          </a:prstGeom>
          <a:noFill/>
          <a:ln w="38100">
            <a:solidFill>
              <a:srgbClr val="FF007F"/>
            </a:solidFill>
            <a:prstDash val="solid"/>
          </a:ln>
        </p:spPr>
        <p:txBody>
          <a:bodyPr/>
          <a:lstStyle/>
          <a:p>
            <a:endParaRPr lang="en-US"/>
          </a:p>
        </p:txBody>
      </p:sp>
      <p:sp>
        <p:nvSpPr>
          <p:cNvPr id="7" name="Text 4"/>
          <p:cNvSpPr/>
          <p:nvPr/>
        </p:nvSpPr>
        <p:spPr>
          <a:xfrm>
            <a:off x="530352" y="2971800"/>
            <a:ext cx="4434840" cy="777240"/>
          </a:xfrm>
          <a:prstGeom prst="rect">
            <a:avLst/>
          </a:prstGeom>
          <a:noFill/>
          <a:ln/>
        </p:spPr>
        <p:txBody>
          <a:bodyPr wrap="square" rtlCol="0" anchor="ctr"/>
          <a:lstStyle/>
          <a:p>
            <a:pPr marL="0" indent="0">
              <a:lnSpc>
                <a:spcPct val="120000"/>
              </a:lnSpc>
              <a:buNone/>
            </a:pPr>
            <a:r>
              <a:rPr lang="en-US" sz="1450" i="1" dirty="0">
                <a:solidFill>
                  <a:srgbClr val="9FB4BD"/>
                </a:solidFill>
                <a:latin typeface="Calibri" pitchFamily="34" charset="0"/>
                <a:ea typeface="Calibri" pitchFamily="34" charset="-122"/>
                <a:cs typeface="Calibri" pitchFamily="34" charset="-120"/>
              </a:rPr>
              <a:t>Exploring the intersection of Generative AI, Academic Performance, and Student Well-being.</a:t>
            </a:r>
            <a:endParaRPr lang="en-US" sz="1450" dirty="0"/>
          </a:p>
        </p:txBody>
      </p:sp>
      <p:sp>
        <p:nvSpPr>
          <p:cNvPr id="8" name="Shape 5"/>
          <p:cNvSpPr/>
          <p:nvPr/>
        </p:nvSpPr>
        <p:spPr>
          <a:xfrm>
            <a:off x="530352" y="3977640"/>
            <a:ext cx="4434840" cy="777240"/>
          </a:xfrm>
          <a:prstGeom prst="roundRect">
            <a:avLst>
              <a:gd name="adj" fmla="val 14118"/>
            </a:avLst>
          </a:prstGeom>
          <a:solidFill>
            <a:srgbClr val="142229">
              <a:alpha val="75000"/>
            </a:srgbClr>
          </a:solidFill>
          <a:ln w="9525">
            <a:solidFill>
              <a:srgbClr val="00D2FF">
                <a:alpha val="45000"/>
              </a:srgbClr>
            </a:solidFill>
            <a:prstDash val="solid"/>
          </a:ln>
          <a:effectLst>
            <a:outerShdw blurRad="127000" dist="38100" dir="5400000" algn="bl" rotWithShape="0">
              <a:srgbClr val="000000">
                <a:alpha val="35000"/>
              </a:srgbClr>
            </a:outerShdw>
          </a:effectLst>
        </p:spPr>
        <p:txBody>
          <a:bodyPr/>
          <a:lstStyle/>
          <a:p>
            <a:endParaRPr lang="en-US"/>
          </a:p>
        </p:txBody>
      </p:sp>
      <p:sp>
        <p:nvSpPr>
          <p:cNvPr id="9" name="Text 6"/>
          <p:cNvSpPr/>
          <p:nvPr/>
        </p:nvSpPr>
        <p:spPr>
          <a:xfrm>
            <a:off x="685800" y="4142232"/>
            <a:ext cx="4206240" cy="274320"/>
          </a:xfrm>
          <a:prstGeom prst="rect">
            <a:avLst/>
          </a:prstGeom>
          <a:noFill/>
          <a:ln/>
        </p:spPr>
        <p:txBody>
          <a:bodyPr wrap="square" rtlCol="0" anchor="ctr"/>
          <a:lstStyle/>
          <a:p>
            <a:pPr marL="0" indent="0" algn="l">
              <a:buNone/>
            </a:pPr>
            <a:r>
              <a:rPr lang="en-US" sz="1250" b="1" dirty="0">
                <a:solidFill>
                  <a:srgbClr val="00D2FF"/>
                </a:solidFill>
                <a:latin typeface="Calibri" pitchFamily="34" charset="0"/>
                <a:ea typeface="Calibri" pitchFamily="34" charset="-122"/>
                <a:cs typeface="Calibri" pitchFamily="34" charset="-120"/>
              </a:rPr>
              <a:t>Regression</a:t>
            </a:r>
            <a:r>
              <a:rPr lang="en-US" sz="1250" dirty="0">
                <a:solidFill>
                  <a:srgbClr val="9FB4BD"/>
                </a:solidFill>
                <a:latin typeface="Calibri" pitchFamily="34" charset="0"/>
                <a:ea typeface="Calibri" pitchFamily="34" charset="-122"/>
                <a:cs typeface="Calibri" pitchFamily="34" charset="-120"/>
              </a:rPr>
              <a:t>   ·   </a:t>
            </a:r>
            <a:r>
              <a:rPr lang="en-US" sz="1250" b="1" dirty="0">
                <a:solidFill>
                  <a:srgbClr val="39FF14"/>
                </a:solidFill>
                <a:latin typeface="Calibri" pitchFamily="34" charset="0"/>
                <a:ea typeface="Calibri" pitchFamily="34" charset="-122"/>
                <a:cs typeface="Calibri" pitchFamily="34" charset="-120"/>
              </a:rPr>
              <a:t>Classification</a:t>
            </a:r>
            <a:r>
              <a:rPr lang="en-US" sz="1250" dirty="0">
                <a:solidFill>
                  <a:srgbClr val="9FB4BD"/>
                </a:solidFill>
                <a:latin typeface="Calibri" pitchFamily="34" charset="0"/>
                <a:ea typeface="Calibri" pitchFamily="34" charset="-122"/>
                <a:cs typeface="Calibri" pitchFamily="34" charset="-120"/>
              </a:rPr>
              <a:t>   ·   </a:t>
            </a:r>
            <a:r>
              <a:rPr lang="en-US" sz="1250" b="1" dirty="0">
                <a:solidFill>
                  <a:srgbClr val="FF007F"/>
                </a:solidFill>
                <a:latin typeface="Calibri" pitchFamily="34" charset="0"/>
                <a:ea typeface="Calibri" pitchFamily="34" charset="-122"/>
                <a:cs typeface="Calibri" pitchFamily="34" charset="-120"/>
              </a:rPr>
              <a:t>Clustering</a:t>
            </a:r>
            <a:endParaRPr lang="en-US" sz="1250" dirty="0"/>
          </a:p>
        </p:txBody>
      </p:sp>
      <p:sp>
        <p:nvSpPr>
          <p:cNvPr id="10" name="Text 7"/>
          <p:cNvSpPr/>
          <p:nvPr/>
        </p:nvSpPr>
        <p:spPr>
          <a:xfrm>
            <a:off x="685800" y="4416552"/>
            <a:ext cx="4206240" cy="274320"/>
          </a:xfrm>
          <a:prstGeom prst="rect">
            <a:avLst/>
          </a:prstGeom>
          <a:noFill/>
          <a:ln/>
        </p:spPr>
        <p:txBody>
          <a:bodyPr wrap="square" rtlCol="0" anchor="ctr"/>
          <a:lstStyle/>
          <a:p>
            <a:pPr marL="0" indent="0">
              <a:buNone/>
            </a:pPr>
            <a:r>
              <a:rPr lang="en-US" sz="1050" dirty="0">
                <a:solidFill>
                  <a:srgbClr val="9FB4BD"/>
                </a:solidFill>
                <a:latin typeface="Calibri" pitchFamily="34" charset="0"/>
                <a:ea typeface="Calibri" pitchFamily="34" charset="-122"/>
                <a:cs typeface="Calibri" pitchFamily="34" charset="-120"/>
              </a:rPr>
              <a:t>XGBoost  ·  K-Means  ·  Streamlit Dashboard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92608"/>
          </a:xfrm>
          <a:prstGeom prst="rect">
            <a:avLst/>
          </a:prstGeom>
          <a:noFill/>
          <a:ln/>
        </p:spPr>
        <p:txBody>
          <a:bodyPr wrap="square" rtlCol="0" anchor="ctr"/>
          <a:lstStyle/>
          <a:p>
            <a:pPr marL="0" indent="0">
              <a:buNone/>
            </a:pPr>
            <a:r>
              <a:rPr lang="en-US" sz="1250" b="1" kern="0" spc="300" dirty="0">
                <a:solidFill>
                  <a:srgbClr val="FF007F"/>
                </a:solidFill>
                <a:latin typeface="Calibri" pitchFamily="34" charset="0"/>
                <a:ea typeface="Calibri" pitchFamily="34" charset="-122"/>
                <a:cs typeface="Calibri" pitchFamily="34" charset="-120"/>
              </a:rPr>
              <a:t>01  ·  THE PROBLEM STATEMENT</a:t>
            </a:r>
            <a:endParaRPr lang="en-US" sz="1250" dirty="0"/>
          </a:p>
        </p:txBody>
      </p:sp>
      <p:sp>
        <p:nvSpPr>
          <p:cNvPr id="3" name="Text 1"/>
          <p:cNvSpPr/>
          <p:nvPr/>
        </p:nvSpPr>
        <p:spPr>
          <a:xfrm>
            <a:off x="502920" y="566928"/>
            <a:ext cx="8138160" cy="566928"/>
          </a:xfrm>
          <a:prstGeom prst="rect">
            <a:avLst/>
          </a:prstGeom>
          <a:noFill/>
          <a:ln/>
        </p:spPr>
        <p:txBody>
          <a:bodyPr wrap="square" rtlCol="0" anchor="ctr"/>
          <a:lstStyle/>
          <a:p>
            <a:pPr marL="0" indent="0">
              <a:buNone/>
            </a:pPr>
            <a:r>
              <a:rPr lang="en-US" sz="3000" b="1" dirty="0">
                <a:solidFill>
                  <a:srgbClr val="F4FBFD"/>
                </a:solidFill>
                <a:latin typeface="Century Schoolbook" pitchFamily="34" charset="0"/>
                <a:ea typeface="Century Schoolbook" pitchFamily="34" charset="-122"/>
                <a:cs typeface="Century Schoolbook" pitchFamily="34" charset="-120"/>
              </a:rPr>
              <a:t>An Unanswered Question in Modern Education</a:t>
            </a:r>
            <a:endParaRPr lang="en-US" sz="3000" dirty="0"/>
          </a:p>
        </p:txBody>
      </p:sp>
      <p:pic>
        <p:nvPicPr>
          <p:cNvPr id="4" name="Image 0" descr="preencoded.png"/>
          <p:cNvPicPr>
            <a:picLocks noChangeAspect="1"/>
          </p:cNvPicPr>
          <p:nvPr/>
        </p:nvPicPr>
        <p:blipFill>
          <a:blip r:embed="rId4"/>
          <a:stretch>
            <a:fillRect/>
          </a:stretch>
        </p:blipFill>
        <p:spPr>
          <a:xfrm>
            <a:off x="7360920" y="502920"/>
            <a:ext cx="566928" cy="566928"/>
          </a:xfrm>
          <a:prstGeom prst="rect">
            <a:avLst/>
          </a:prstGeom>
        </p:spPr>
      </p:pic>
      <p:sp>
        <p:nvSpPr>
          <p:cNvPr id="5" name="Text 2"/>
          <p:cNvSpPr/>
          <p:nvPr/>
        </p:nvSpPr>
        <p:spPr>
          <a:xfrm>
            <a:off x="502920" y="1234440"/>
            <a:ext cx="8138160" cy="548640"/>
          </a:xfrm>
          <a:prstGeom prst="rect">
            <a:avLst/>
          </a:prstGeom>
          <a:noFill/>
          <a:ln/>
        </p:spPr>
        <p:txBody>
          <a:bodyPr wrap="square" rtlCol="0" anchor="ctr"/>
          <a:lstStyle/>
          <a:p>
            <a:pPr marL="0" indent="0">
              <a:lnSpc>
                <a:spcPct val="115000"/>
              </a:lnSpc>
              <a:buNone/>
            </a:pPr>
            <a:r>
              <a:rPr lang="en-US" sz="1450" dirty="0">
                <a:solidFill>
                  <a:srgbClr val="F4FBFD"/>
                </a:solidFill>
                <a:latin typeface="Calibri" pitchFamily="34" charset="0"/>
                <a:ea typeface="Calibri" pitchFamily="34" charset="-122"/>
                <a:cs typeface="Calibri" pitchFamily="34" charset="-120"/>
              </a:rPr>
              <a:t>As Generative AI becomes mainstream on campus, we lack rigorous, data-driven answers about its real effect on students — only assumptions.</a:t>
            </a:r>
            <a:endParaRPr lang="en-US" sz="1450" dirty="0"/>
          </a:p>
        </p:txBody>
      </p:sp>
      <p:sp>
        <p:nvSpPr>
          <p:cNvPr id="6" name="Shape 3"/>
          <p:cNvSpPr/>
          <p:nvPr/>
        </p:nvSpPr>
        <p:spPr>
          <a:xfrm>
            <a:off x="502920" y="2011680"/>
            <a:ext cx="2587752" cy="2331720"/>
          </a:xfrm>
          <a:prstGeom prst="roundRect">
            <a:avLst>
              <a:gd name="adj" fmla="val 4706"/>
            </a:avLst>
          </a:prstGeom>
          <a:solidFill>
            <a:srgbClr val="1B2D36">
              <a:alpha val="72000"/>
            </a:srgbClr>
          </a:solidFill>
          <a:ln w="9525">
            <a:solidFill>
              <a:srgbClr val="00D2F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7" name="Image 1" descr="preencoded.png"/>
          <p:cNvPicPr>
            <a:picLocks noChangeAspect="1"/>
          </p:cNvPicPr>
          <p:nvPr/>
        </p:nvPicPr>
        <p:blipFill>
          <a:blip r:embed="rId5"/>
          <a:stretch>
            <a:fillRect/>
          </a:stretch>
        </p:blipFill>
        <p:spPr>
          <a:xfrm>
            <a:off x="722376" y="2267712"/>
            <a:ext cx="475488" cy="475488"/>
          </a:xfrm>
          <a:prstGeom prst="rect">
            <a:avLst/>
          </a:prstGeom>
        </p:spPr>
      </p:pic>
      <p:sp>
        <p:nvSpPr>
          <p:cNvPr id="8" name="Text 4"/>
          <p:cNvSpPr/>
          <p:nvPr/>
        </p:nvSpPr>
        <p:spPr>
          <a:xfrm>
            <a:off x="722376" y="2880360"/>
            <a:ext cx="2130552" cy="457200"/>
          </a:xfrm>
          <a:prstGeom prst="rect">
            <a:avLst/>
          </a:prstGeom>
          <a:noFill/>
          <a:ln/>
        </p:spPr>
        <p:txBody>
          <a:bodyPr wrap="square" rtlCol="0" anchor="ctr"/>
          <a:lstStyle/>
          <a:p>
            <a:pPr marL="0" indent="0">
              <a:lnSpc>
                <a:spcPct val="100000"/>
              </a:lnSpc>
              <a:buNone/>
            </a:pPr>
            <a:r>
              <a:rPr lang="en-US" sz="1500" b="1" dirty="0">
                <a:solidFill>
                  <a:srgbClr val="F4FBFD"/>
                </a:solidFill>
                <a:latin typeface="Century Schoolbook" pitchFamily="34" charset="0"/>
                <a:ea typeface="Century Schoolbook" pitchFamily="34" charset="-122"/>
                <a:cs typeface="Century Schoolbook" pitchFamily="34" charset="-120"/>
              </a:rPr>
              <a:t>Academic Performance</a:t>
            </a:r>
            <a:endParaRPr lang="en-US" sz="1500" dirty="0"/>
          </a:p>
        </p:txBody>
      </p:sp>
      <p:sp>
        <p:nvSpPr>
          <p:cNvPr id="9" name="Text 5"/>
          <p:cNvSpPr/>
          <p:nvPr/>
        </p:nvSpPr>
        <p:spPr>
          <a:xfrm>
            <a:off x="722376" y="3383280"/>
            <a:ext cx="2148840" cy="868680"/>
          </a:xfrm>
          <a:prstGeom prst="rect">
            <a:avLst/>
          </a:prstGeom>
          <a:noFill/>
          <a:ln/>
        </p:spPr>
        <p:txBody>
          <a:bodyPr wrap="square" rtlCol="0" anchor="ctr"/>
          <a:lstStyle/>
          <a:p>
            <a:pPr marL="0" indent="0">
              <a:lnSpc>
                <a:spcPct val="120000"/>
              </a:lnSpc>
              <a:buNone/>
            </a:pPr>
            <a:r>
              <a:rPr lang="en-US" sz="1100" dirty="0">
                <a:solidFill>
                  <a:srgbClr val="9FB4BD"/>
                </a:solidFill>
                <a:latin typeface="Calibri" pitchFamily="34" charset="0"/>
                <a:ea typeface="Calibri" pitchFamily="34" charset="-122"/>
                <a:cs typeface="Calibri" pitchFamily="34" charset="-120"/>
              </a:rPr>
              <a:t>Does daily GenAI use genuinely move the needle on GPA — up or down?</a:t>
            </a:r>
            <a:endParaRPr lang="en-US" sz="1100" dirty="0"/>
          </a:p>
        </p:txBody>
      </p:sp>
      <p:sp>
        <p:nvSpPr>
          <p:cNvPr id="10" name="Shape 6"/>
          <p:cNvSpPr/>
          <p:nvPr/>
        </p:nvSpPr>
        <p:spPr>
          <a:xfrm>
            <a:off x="3273552" y="2011680"/>
            <a:ext cx="2587752" cy="2331720"/>
          </a:xfrm>
          <a:prstGeom prst="roundRect">
            <a:avLst>
              <a:gd name="adj" fmla="val 4706"/>
            </a:avLst>
          </a:prstGeom>
          <a:solidFill>
            <a:srgbClr val="1B2D36">
              <a:alpha val="72000"/>
            </a:srgbClr>
          </a:solidFill>
          <a:ln w="9525">
            <a:solidFill>
              <a:srgbClr val="39FF14">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11" name="Image 2" descr="preencoded.png"/>
          <p:cNvPicPr>
            <a:picLocks noChangeAspect="1"/>
          </p:cNvPicPr>
          <p:nvPr/>
        </p:nvPicPr>
        <p:blipFill>
          <a:blip r:embed="rId6"/>
          <a:stretch>
            <a:fillRect/>
          </a:stretch>
        </p:blipFill>
        <p:spPr>
          <a:xfrm>
            <a:off x="3493008" y="2267712"/>
            <a:ext cx="475488" cy="475488"/>
          </a:xfrm>
          <a:prstGeom prst="rect">
            <a:avLst/>
          </a:prstGeom>
        </p:spPr>
      </p:pic>
      <p:sp>
        <p:nvSpPr>
          <p:cNvPr id="12" name="Text 7"/>
          <p:cNvSpPr/>
          <p:nvPr/>
        </p:nvSpPr>
        <p:spPr>
          <a:xfrm>
            <a:off x="3493008" y="2880360"/>
            <a:ext cx="2130552" cy="457200"/>
          </a:xfrm>
          <a:prstGeom prst="rect">
            <a:avLst/>
          </a:prstGeom>
          <a:noFill/>
          <a:ln/>
        </p:spPr>
        <p:txBody>
          <a:bodyPr wrap="square" rtlCol="0" anchor="ctr"/>
          <a:lstStyle/>
          <a:p>
            <a:pPr marL="0" indent="0">
              <a:lnSpc>
                <a:spcPct val="100000"/>
              </a:lnSpc>
              <a:buNone/>
            </a:pPr>
            <a:r>
              <a:rPr lang="en-US" sz="1500" b="1" dirty="0">
                <a:solidFill>
                  <a:srgbClr val="F4FBFD"/>
                </a:solidFill>
                <a:latin typeface="Century Schoolbook" pitchFamily="34" charset="0"/>
                <a:ea typeface="Century Schoolbook" pitchFamily="34" charset="-122"/>
                <a:cs typeface="Century Schoolbook" pitchFamily="34" charset="-120"/>
              </a:rPr>
              <a:t>Foundational Skills</a:t>
            </a:r>
            <a:endParaRPr lang="en-US" sz="1500" dirty="0"/>
          </a:p>
        </p:txBody>
      </p:sp>
      <p:sp>
        <p:nvSpPr>
          <p:cNvPr id="13" name="Text 8"/>
          <p:cNvSpPr/>
          <p:nvPr/>
        </p:nvSpPr>
        <p:spPr>
          <a:xfrm>
            <a:off x="3493008" y="3383280"/>
            <a:ext cx="2148840" cy="868680"/>
          </a:xfrm>
          <a:prstGeom prst="rect">
            <a:avLst/>
          </a:prstGeom>
          <a:noFill/>
          <a:ln/>
        </p:spPr>
        <p:txBody>
          <a:bodyPr wrap="square" rtlCol="0" anchor="ctr"/>
          <a:lstStyle/>
          <a:p>
            <a:pPr marL="0" indent="0">
              <a:lnSpc>
                <a:spcPct val="120000"/>
              </a:lnSpc>
              <a:buNone/>
            </a:pPr>
            <a:r>
              <a:rPr lang="en-US" sz="1100" dirty="0">
                <a:solidFill>
                  <a:srgbClr val="9FB4BD"/>
                </a:solidFill>
                <a:latin typeface="Calibri" pitchFamily="34" charset="0"/>
                <a:ea typeface="Calibri" pitchFamily="34" charset="-122"/>
                <a:cs typeface="Calibri" pitchFamily="34" charset="-120"/>
              </a:rPr>
              <a:t>Is core skill retention quietly eroding beneath AI-assisted convenience?</a:t>
            </a:r>
            <a:endParaRPr lang="en-US" sz="1100" dirty="0"/>
          </a:p>
        </p:txBody>
      </p:sp>
      <p:sp>
        <p:nvSpPr>
          <p:cNvPr id="14" name="Shape 9"/>
          <p:cNvSpPr/>
          <p:nvPr/>
        </p:nvSpPr>
        <p:spPr>
          <a:xfrm>
            <a:off x="6044184" y="2011680"/>
            <a:ext cx="2587752" cy="2331720"/>
          </a:xfrm>
          <a:prstGeom prst="roundRect">
            <a:avLst>
              <a:gd name="adj" fmla="val 4706"/>
            </a:avLst>
          </a:prstGeom>
          <a:solidFill>
            <a:srgbClr val="1B2D36">
              <a:alpha val="72000"/>
            </a:srgbClr>
          </a:solidFill>
          <a:ln w="9525">
            <a:solidFill>
              <a:srgbClr val="FF007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15" name="Image 3" descr="preencoded.png"/>
          <p:cNvPicPr>
            <a:picLocks noChangeAspect="1"/>
          </p:cNvPicPr>
          <p:nvPr/>
        </p:nvPicPr>
        <p:blipFill>
          <a:blip r:embed="rId7"/>
          <a:stretch>
            <a:fillRect/>
          </a:stretch>
        </p:blipFill>
        <p:spPr>
          <a:xfrm>
            <a:off x="6263640" y="2267712"/>
            <a:ext cx="475488" cy="475488"/>
          </a:xfrm>
          <a:prstGeom prst="rect">
            <a:avLst/>
          </a:prstGeom>
        </p:spPr>
      </p:pic>
      <p:sp>
        <p:nvSpPr>
          <p:cNvPr id="16" name="Text 10"/>
          <p:cNvSpPr/>
          <p:nvPr/>
        </p:nvSpPr>
        <p:spPr>
          <a:xfrm>
            <a:off x="6263640" y="2880360"/>
            <a:ext cx="2130552" cy="457200"/>
          </a:xfrm>
          <a:prstGeom prst="rect">
            <a:avLst/>
          </a:prstGeom>
          <a:noFill/>
          <a:ln/>
        </p:spPr>
        <p:txBody>
          <a:bodyPr wrap="square" rtlCol="0" anchor="ctr"/>
          <a:lstStyle/>
          <a:p>
            <a:pPr marL="0" indent="0">
              <a:lnSpc>
                <a:spcPct val="100000"/>
              </a:lnSpc>
              <a:buNone/>
            </a:pPr>
            <a:r>
              <a:rPr lang="en-US" sz="1500" b="1" dirty="0">
                <a:solidFill>
                  <a:srgbClr val="F4FBFD"/>
                </a:solidFill>
                <a:latin typeface="Century Schoolbook" pitchFamily="34" charset="0"/>
                <a:ea typeface="Century Schoolbook" pitchFamily="34" charset="-122"/>
                <a:cs typeface="Century Schoolbook" pitchFamily="34" charset="-120"/>
              </a:rPr>
              <a:t>Psychological Burnout</a:t>
            </a:r>
            <a:endParaRPr lang="en-US" sz="1500" dirty="0"/>
          </a:p>
        </p:txBody>
      </p:sp>
      <p:sp>
        <p:nvSpPr>
          <p:cNvPr id="17" name="Text 11"/>
          <p:cNvSpPr/>
          <p:nvPr/>
        </p:nvSpPr>
        <p:spPr>
          <a:xfrm>
            <a:off x="6263640" y="3383280"/>
            <a:ext cx="2148840" cy="868680"/>
          </a:xfrm>
          <a:prstGeom prst="rect">
            <a:avLst/>
          </a:prstGeom>
          <a:noFill/>
          <a:ln/>
        </p:spPr>
        <p:txBody>
          <a:bodyPr wrap="square" rtlCol="0" anchor="ctr"/>
          <a:lstStyle/>
          <a:p>
            <a:pPr marL="0" indent="0">
              <a:lnSpc>
                <a:spcPct val="120000"/>
              </a:lnSpc>
              <a:buNone/>
            </a:pPr>
            <a:r>
              <a:rPr lang="en-US" sz="1100" dirty="0">
                <a:solidFill>
                  <a:srgbClr val="9FB4BD"/>
                </a:solidFill>
                <a:latin typeface="Calibri" pitchFamily="34" charset="0"/>
                <a:ea typeface="Calibri" pitchFamily="34" charset="-122"/>
                <a:cs typeface="Calibri" pitchFamily="34" charset="-120"/>
              </a:rPr>
              <a:t>Is AI dependency correlated with rising anxiety and academic burnout?</a:t>
            </a:r>
            <a:endParaRPr lang="en-US" sz="1100" dirty="0"/>
          </a:p>
        </p:txBody>
      </p:sp>
      <p:sp>
        <p:nvSpPr>
          <p:cNvPr id="18" name="Text 12"/>
          <p:cNvSpPr/>
          <p:nvPr/>
        </p:nvSpPr>
        <p:spPr>
          <a:xfrm>
            <a:off x="7955280" y="4864608"/>
            <a:ext cx="1005840" cy="228600"/>
          </a:xfrm>
          <a:prstGeom prst="rect">
            <a:avLst/>
          </a:prstGeom>
          <a:noFill/>
          <a:ln/>
        </p:spPr>
        <p:txBody>
          <a:bodyPr wrap="square" rtlCol="0" anchor="ctr"/>
          <a:lstStyle/>
          <a:p>
            <a:pPr marL="0" indent="0" algn="r">
              <a:buNone/>
            </a:pPr>
            <a:r>
              <a:rPr lang="en-US" sz="900" dirty="0">
                <a:solidFill>
                  <a:srgbClr val="9FB4BD"/>
                </a:solidFill>
                <a:latin typeface="Calibri" pitchFamily="34" charset="0"/>
                <a:ea typeface="Calibri" pitchFamily="34" charset="-122"/>
                <a:cs typeface="Calibri" pitchFamily="34" charset="-120"/>
              </a:rPr>
              <a:t>02 / 10</a:t>
            </a:r>
            <a:endParaRPr lang="en-US" sz="900" dirty="0"/>
          </a:p>
        </p:txBody>
      </p:sp>
      <p:sp>
        <p:nvSpPr>
          <p:cNvPr id="19" name="Text 13"/>
          <p:cNvSpPr/>
          <p:nvPr/>
        </p:nvSpPr>
        <p:spPr>
          <a:xfrm>
            <a:off x="457200" y="4864608"/>
            <a:ext cx="4572000" cy="228600"/>
          </a:xfrm>
          <a:prstGeom prst="rect">
            <a:avLst/>
          </a:prstGeom>
          <a:noFill/>
          <a:ln/>
        </p:spPr>
        <p:txBody>
          <a:bodyPr wrap="square" rtlCol="0" anchor="ctr"/>
          <a:lstStyle/>
          <a:p>
            <a:pPr marL="0" indent="0">
              <a:buNone/>
            </a:pPr>
            <a:r>
              <a:rPr lang="en-US" sz="900" kern="0" spc="200" dirty="0">
                <a:solidFill>
                  <a:srgbClr val="9FB4BD"/>
                </a:solidFill>
                <a:latin typeface="Calibri" pitchFamily="34" charset="0"/>
                <a:ea typeface="Calibri" pitchFamily="34" charset="-122"/>
                <a:cs typeface="Calibri" pitchFamily="34" charset="-120"/>
              </a:rPr>
              <a:t>AI STUDENT IMPACT ANALYSIS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92608"/>
          </a:xfrm>
          <a:prstGeom prst="rect">
            <a:avLst/>
          </a:prstGeom>
          <a:noFill/>
          <a:ln/>
        </p:spPr>
        <p:txBody>
          <a:bodyPr wrap="square" rtlCol="0" anchor="ctr"/>
          <a:lstStyle/>
          <a:p>
            <a:pPr marL="0" indent="0">
              <a:buNone/>
            </a:pPr>
            <a:r>
              <a:rPr lang="en-US" sz="1250" b="1" kern="0" spc="300" dirty="0">
                <a:solidFill>
                  <a:srgbClr val="00D2FF"/>
                </a:solidFill>
                <a:latin typeface="Calibri" pitchFamily="34" charset="0"/>
                <a:ea typeface="Calibri" pitchFamily="34" charset="-122"/>
                <a:cs typeface="Calibri" pitchFamily="34" charset="-120"/>
              </a:rPr>
              <a:t>02  ·  EXPLORATORY DATA ANALYSIS</a:t>
            </a:r>
            <a:endParaRPr lang="en-US" sz="1250" dirty="0"/>
          </a:p>
        </p:txBody>
      </p:sp>
      <p:sp>
        <p:nvSpPr>
          <p:cNvPr id="3" name="Text 1"/>
          <p:cNvSpPr/>
          <p:nvPr/>
        </p:nvSpPr>
        <p:spPr>
          <a:xfrm>
            <a:off x="502920" y="566928"/>
            <a:ext cx="8138160" cy="566928"/>
          </a:xfrm>
          <a:prstGeom prst="rect">
            <a:avLst/>
          </a:prstGeom>
          <a:noFill/>
          <a:ln/>
        </p:spPr>
        <p:txBody>
          <a:bodyPr wrap="square" rtlCol="0" anchor="ctr"/>
          <a:lstStyle/>
          <a:p>
            <a:pPr marL="0" indent="0">
              <a:buNone/>
            </a:pPr>
            <a:r>
              <a:rPr lang="en-US" sz="3000" b="1" dirty="0">
                <a:solidFill>
                  <a:srgbClr val="F4FBFD"/>
                </a:solidFill>
                <a:latin typeface="Century Schoolbook" pitchFamily="34" charset="0"/>
                <a:ea typeface="Century Schoolbook" pitchFamily="34" charset="-122"/>
                <a:cs typeface="Century Schoolbook" pitchFamily="34" charset="-120"/>
              </a:rPr>
              <a:t>Getting to Know the Dataset</a:t>
            </a:r>
            <a:endParaRPr lang="en-US" sz="3000" dirty="0"/>
          </a:p>
        </p:txBody>
      </p:sp>
      <p:sp>
        <p:nvSpPr>
          <p:cNvPr id="4" name="Shape 2"/>
          <p:cNvSpPr/>
          <p:nvPr/>
        </p:nvSpPr>
        <p:spPr>
          <a:xfrm>
            <a:off x="502920" y="1234440"/>
            <a:ext cx="3246120" cy="3429000"/>
          </a:xfrm>
          <a:prstGeom prst="roundRect">
            <a:avLst>
              <a:gd name="adj" fmla="val 3380"/>
            </a:avLst>
          </a:prstGeom>
          <a:solidFill>
            <a:srgbClr val="1B2D36">
              <a:alpha val="72000"/>
            </a:srgbClr>
          </a:solidFill>
          <a:ln w="9525">
            <a:solidFill>
              <a:srgbClr val="00D2F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5" name="Image 0" descr="preencoded.png"/>
          <p:cNvPicPr>
            <a:picLocks noChangeAspect="1"/>
          </p:cNvPicPr>
          <p:nvPr/>
        </p:nvPicPr>
        <p:blipFill>
          <a:blip r:embed="rId4"/>
          <a:stretch>
            <a:fillRect/>
          </a:stretch>
        </p:blipFill>
        <p:spPr>
          <a:xfrm>
            <a:off x="731520" y="1463040"/>
            <a:ext cx="457200" cy="457200"/>
          </a:xfrm>
          <a:prstGeom prst="rect">
            <a:avLst/>
          </a:prstGeom>
        </p:spPr>
      </p:pic>
      <p:sp>
        <p:nvSpPr>
          <p:cNvPr id="6" name="Text 3"/>
          <p:cNvSpPr/>
          <p:nvPr/>
        </p:nvSpPr>
        <p:spPr>
          <a:xfrm>
            <a:off x="777240" y="1993392"/>
            <a:ext cx="2834640" cy="320040"/>
          </a:xfrm>
          <a:prstGeom prst="rect">
            <a:avLst/>
          </a:prstGeom>
          <a:noFill/>
          <a:ln/>
        </p:spPr>
        <p:txBody>
          <a:bodyPr wrap="square" rtlCol="0" anchor="ctr"/>
          <a:lstStyle/>
          <a:p>
            <a:pPr marL="0" indent="0">
              <a:buNone/>
            </a:pPr>
            <a:r>
              <a:rPr lang="en-US" sz="1500" b="1" dirty="0">
                <a:solidFill>
                  <a:srgbClr val="F4FBFD"/>
                </a:solidFill>
                <a:latin typeface="Century Schoolbook" pitchFamily="34" charset="0"/>
                <a:ea typeface="Century Schoolbook" pitchFamily="34" charset="-122"/>
                <a:cs typeface="Century Schoolbook" pitchFamily="34" charset="-120"/>
              </a:rPr>
              <a:t>Dataset Snapshot</a:t>
            </a:r>
            <a:endParaRPr lang="en-US" sz="1500" dirty="0"/>
          </a:p>
        </p:txBody>
      </p:sp>
      <p:sp>
        <p:nvSpPr>
          <p:cNvPr id="7" name="Text 4"/>
          <p:cNvSpPr/>
          <p:nvPr/>
        </p:nvSpPr>
        <p:spPr>
          <a:xfrm>
            <a:off x="777240" y="2395728"/>
            <a:ext cx="2788920" cy="2148840"/>
          </a:xfrm>
          <a:prstGeom prst="rect">
            <a:avLst/>
          </a:prstGeom>
          <a:noFill/>
          <a:ln/>
        </p:spPr>
        <p:txBody>
          <a:bodyPr wrap="square" rtlCol="0" anchor="ctr"/>
          <a:lstStyle/>
          <a:p>
            <a:pPr marL="342900" indent="-342900">
              <a:lnSpc>
                <a:spcPct val="115000"/>
              </a:lnSpc>
              <a:spcAft>
                <a:spcPts val="1000"/>
              </a:spcAft>
              <a:buSzPct val="100000"/>
              <a:buChar char="●"/>
            </a:pPr>
            <a:r>
              <a:rPr lang="en-US" sz="1150" dirty="0">
                <a:solidFill>
                  <a:srgbClr val="00D2FF"/>
                </a:solidFill>
                <a:latin typeface="Calibri" pitchFamily="34" charset="0"/>
                <a:ea typeface="Calibri" pitchFamily="34" charset="-122"/>
                <a:cs typeface="Calibri" pitchFamily="34" charset="-120"/>
              </a:rPr>
              <a:t>Diverse student features across majors &amp; year levels</a:t>
            </a:r>
            <a:endParaRPr lang="en-US" sz="1150" dirty="0"/>
          </a:p>
          <a:p>
            <a:pPr marL="342900" indent="-342900">
              <a:lnSpc>
                <a:spcPct val="115000"/>
              </a:lnSpc>
              <a:spcAft>
                <a:spcPts val="1000"/>
              </a:spcAft>
              <a:buSzPct val="100000"/>
              <a:buChar char="●"/>
            </a:pPr>
            <a:r>
              <a:rPr lang="en-US" sz="1150" dirty="0">
                <a:solidFill>
                  <a:srgbClr val="39FF14"/>
                </a:solidFill>
                <a:latin typeface="Calibri" pitchFamily="34" charset="0"/>
                <a:ea typeface="Calibri" pitchFamily="34" charset="-122"/>
                <a:cs typeface="Calibri" pitchFamily="34" charset="-120"/>
              </a:rPr>
              <a:t>Traditional Study Hours per week</a:t>
            </a:r>
            <a:endParaRPr lang="en-US" sz="1150" dirty="0"/>
          </a:p>
          <a:p>
            <a:pPr marL="342900" indent="-342900">
              <a:lnSpc>
                <a:spcPct val="115000"/>
              </a:lnSpc>
              <a:spcAft>
                <a:spcPts val="1000"/>
              </a:spcAft>
              <a:buSzPct val="100000"/>
              <a:buChar char="●"/>
            </a:pPr>
            <a:r>
              <a:rPr lang="en-US" sz="1150" dirty="0">
                <a:solidFill>
                  <a:srgbClr val="00D2FF"/>
                </a:solidFill>
                <a:latin typeface="Calibri" pitchFamily="34" charset="0"/>
                <a:ea typeface="Calibri" pitchFamily="34" charset="-122"/>
                <a:cs typeface="Calibri" pitchFamily="34" charset="-120"/>
              </a:rPr>
              <a:t>Weekly GenAI Hours (ChatGPT, Claude, etc.)</a:t>
            </a:r>
            <a:endParaRPr lang="en-US" sz="1150" dirty="0"/>
          </a:p>
          <a:p>
            <a:pPr marL="342900" indent="-342900">
              <a:lnSpc>
                <a:spcPct val="115000"/>
              </a:lnSpc>
              <a:spcAft>
                <a:spcPts val="1000"/>
              </a:spcAft>
              <a:buSzPct val="100000"/>
              <a:buChar char="●"/>
            </a:pPr>
            <a:r>
              <a:rPr lang="en-US" sz="1150" dirty="0">
                <a:solidFill>
                  <a:srgbClr val="39FF14"/>
                </a:solidFill>
                <a:latin typeface="Calibri" pitchFamily="34" charset="0"/>
                <a:ea typeface="Calibri" pitchFamily="34" charset="-122"/>
                <a:cs typeface="Calibri" pitchFamily="34" charset="-120"/>
              </a:rPr>
              <a:t>Self-reported Anxiety Levels (1–10 scale)</a:t>
            </a:r>
            <a:endParaRPr lang="en-US" sz="1150" dirty="0"/>
          </a:p>
          <a:p>
            <a:pPr marL="342900" indent="-342900">
              <a:lnSpc>
                <a:spcPct val="115000"/>
              </a:lnSpc>
              <a:spcAft>
                <a:spcPts val="1000"/>
              </a:spcAft>
              <a:buSzPct val="100000"/>
              <a:buChar char="●"/>
            </a:pPr>
            <a:r>
              <a:rPr lang="en-US" sz="1150" dirty="0">
                <a:solidFill>
                  <a:srgbClr val="00D2FF"/>
                </a:solidFill>
                <a:latin typeface="Calibri" pitchFamily="34" charset="0"/>
                <a:ea typeface="Calibri" pitchFamily="34" charset="-122"/>
                <a:cs typeface="Calibri" pitchFamily="34" charset="-120"/>
              </a:rPr>
              <a:t>GPA, skill assessments &amp; sleep patterns</a:t>
            </a:r>
            <a:endParaRPr lang="en-US" sz="1150" dirty="0"/>
          </a:p>
        </p:txBody>
      </p:sp>
      <p:sp>
        <p:nvSpPr>
          <p:cNvPr id="8" name="Shape 5"/>
          <p:cNvSpPr/>
          <p:nvPr/>
        </p:nvSpPr>
        <p:spPr>
          <a:xfrm>
            <a:off x="3931920" y="1234440"/>
            <a:ext cx="4709160" cy="3429000"/>
          </a:xfrm>
          <a:prstGeom prst="roundRect">
            <a:avLst>
              <a:gd name="adj" fmla="val 3200"/>
            </a:avLst>
          </a:prstGeom>
          <a:solidFill>
            <a:srgbClr val="1B2D36">
              <a:alpha val="72000"/>
            </a:srgbClr>
          </a:solidFill>
          <a:ln w="9525">
            <a:solidFill>
              <a:srgbClr val="FF007F">
                <a:alpha val="45000"/>
              </a:srgbClr>
            </a:solidFill>
            <a:prstDash val="solid"/>
          </a:ln>
          <a:effectLst>
            <a:outerShdw blurRad="127000" dist="38100" dir="5400000" algn="bl" rotWithShape="0">
              <a:srgbClr val="000000">
                <a:alpha val="35000"/>
              </a:srgbClr>
            </a:outerShdw>
          </a:effectLst>
        </p:spPr>
        <p:txBody>
          <a:bodyPr/>
          <a:lstStyle/>
          <a:p>
            <a:endParaRPr lang="en-US"/>
          </a:p>
        </p:txBody>
      </p:sp>
      <p:sp>
        <p:nvSpPr>
          <p:cNvPr id="9" name="Text 6"/>
          <p:cNvSpPr/>
          <p:nvPr/>
        </p:nvSpPr>
        <p:spPr>
          <a:xfrm>
            <a:off x="4160520" y="1371600"/>
            <a:ext cx="4297680" cy="274320"/>
          </a:xfrm>
          <a:prstGeom prst="rect">
            <a:avLst/>
          </a:prstGeom>
          <a:noFill/>
          <a:ln/>
        </p:spPr>
        <p:txBody>
          <a:bodyPr wrap="square" rtlCol="0" anchor="ctr"/>
          <a:lstStyle/>
          <a:p>
            <a:pPr marL="0" indent="0">
              <a:buNone/>
            </a:pPr>
            <a:r>
              <a:rPr lang="en-US" sz="1300" b="1" dirty="0">
                <a:solidFill>
                  <a:srgbClr val="FF007F"/>
                </a:solidFill>
                <a:latin typeface="Century Schoolbook" pitchFamily="34" charset="0"/>
                <a:ea typeface="Century Schoolbook" pitchFamily="34" charset="-122"/>
                <a:cs typeface="Century Schoolbook" pitchFamily="34" charset="-120"/>
              </a:rPr>
              <a:t>Glowing Correlation Heatmap</a:t>
            </a:r>
            <a:endParaRPr lang="en-US" sz="1300" dirty="0"/>
          </a:p>
        </p:txBody>
      </p:sp>
      <p:pic>
        <p:nvPicPr>
          <p:cNvPr id="10" name="Image 1" descr="assets/heatmap.png"/>
          <p:cNvPicPr>
            <a:picLocks noChangeAspect="1"/>
          </p:cNvPicPr>
          <p:nvPr/>
        </p:nvPicPr>
        <p:blipFill>
          <a:blip r:embed="rId5"/>
          <a:stretch>
            <a:fillRect/>
          </a:stretch>
        </p:blipFill>
        <p:spPr>
          <a:xfrm>
            <a:off x="4041648" y="1664208"/>
            <a:ext cx="4480560" cy="2880360"/>
          </a:xfrm>
          <a:prstGeom prst="rect">
            <a:avLst/>
          </a:prstGeom>
        </p:spPr>
      </p:pic>
      <p:sp>
        <p:nvSpPr>
          <p:cNvPr id="11" name="Text 7"/>
          <p:cNvSpPr/>
          <p:nvPr/>
        </p:nvSpPr>
        <p:spPr>
          <a:xfrm>
            <a:off x="7955280" y="4864608"/>
            <a:ext cx="1005840" cy="228600"/>
          </a:xfrm>
          <a:prstGeom prst="rect">
            <a:avLst/>
          </a:prstGeom>
          <a:noFill/>
          <a:ln/>
        </p:spPr>
        <p:txBody>
          <a:bodyPr wrap="square" rtlCol="0" anchor="ctr"/>
          <a:lstStyle/>
          <a:p>
            <a:pPr marL="0" indent="0" algn="r">
              <a:buNone/>
            </a:pPr>
            <a:r>
              <a:rPr lang="en-US" sz="900" dirty="0">
                <a:solidFill>
                  <a:srgbClr val="9FB4BD"/>
                </a:solidFill>
                <a:latin typeface="Calibri" pitchFamily="34" charset="0"/>
                <a:ea typeface="Calibri" pitchFamily="34" charset="-122"/>
                <a:cs typeface="Calibri" pitchFamily="34" charset="-120"/>
              </a:rPr>
              <a:t>03 / 10</a:t>
            </a:r>
            <a:endParaRPr lang="en-US" sz="900" dirty="0"/>
          </a:p>
        </p:txBody>
      </p:sp>
      <p:sp>
        <p:nvSpPr>
          <p:cNvPr id="12" name="Text 8"/>
          <p:cNvSpPr/>
          <p:nvPr/>
        </p:nvSpPr>
        <p:spPr>
          <a:xfrm>
            <a:off x="457200" y="4864608"/>
            <a:ext cx="4572000" cy="228600"/>
          </a:xfrm>
          <a:prstGeom prst="rect">
            <a:avLst/>
          </a:prstGeom>
          <a:noFill/>
          <a:ln/>
        </p:spPr>
        <p:txBody>
          <a:bodyPr wrap="square" rtlCol="0" anchor="ctr"/>
          <a:lstStyle/>
          <a:p>
            <a:pPr marL="0" indent="0">
              <a:buNone/>
            </a:pPr>
            <a:r>
              <a:rPr lang="en-US" sz="900" kern="0" spc="200" dirty="0">
                <a:solidFill>
                  <a:srgbClr val="9FB4BD"/>
                </a:solidFill>
                <a:latin typeface="Calibri" pitchFamily="34" charset="0"/>
                <a:ea typeface="Calibri" pitchFamily="34" charset="-122"/>
                <a:cs typeface="Calibri" pitchFamily="34" charset="-120"/>
              </a:rPr>
              <a:t>AI STUDENT IMPACT ANALYSIS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92608"/>
          </a:xfrm>
          <a:prstGeom prst="rect">
            <a:avLst/>
          </a:prstGeom>
          <a:noFill/>
          <a:ln/>
        </p:spPr>
        <p:txBody>
          <a:bodyPr wrap="square" rtlCol="0" anchor="ctr"/>
          <a:lstStyle/>
          <a:p>
            <a:pPr marL="0" indent="0">
              <a:buNone/>
            </a:pPr>
            <a:r>
              <a:rPr lang="en-US" sz="1250" b="1" kern="0" spc="300" dirty="0">
                <a:solidFill>
                  <a:srgbClr val="39FF14"/>
                </a:solidFill>
                <a:latin typeface="Calibri" pitchFamily="34" charset="0"/>
                <a:ea typeface="Calibri" pitchFamily="34" charset="-122"/>
                <a:cs typeface="Calibri" pitchFamily="34" charset="-120"/>
              </a:rPr>
              <a:t>03  ·  FEATURE ENGINEERING &amp; METRICS</a:t>
            </a:r>
            <a:endParaRPr lang="en-US" sz="1250" dirty="0"/>
          </a:p>
        </p:txBody>
      </p:sp>
      <p:sp>
        <p:nvSpPr>
          <p:cNvPr id="3" name="Text 1"/>
          <p:cNvSpPr/>
          <p:nvPr/>
        </p:nvSpPr>
        <p:spPr>
          <a:xfrm>
            <a:off x="502920" y="566928"/>
            <a:ext cx="8138160" cy="566928"/>
          </a:xfrm>
          <a:prstGeom prst="rect">
            <a:avLst/>
          </a:prstGeom>
          <a:noFill/>
          <a:ln/>
        </p:spPr>
        <p:txBody>
          <a:bodyPr wrap="square" rtlCol="0" anchor="ctr"/>
          <a:lstStyle/>
          <a:p>
            <a:pPr marL="0" indent="0">
              <a:buNone/>
            </a:pPr>
            <a:r>
              <a:rPr lang="en-US" sz="3000" b="1" dirty="0">
                <a:solidFill>
                  <a:srgbClr val="F4FBFD"/>
                </a:solidFill>
                <a:latin typeface="Century Schoolbook" pitchFamily="34" charset="0"/>
                <a:ea typeface="Century Schoolbook" pitchFamily="34" charset="-122"/>
                <a:cs typeface="Century Schoolbook" pitchFamily="34" charset="-120"/>
              </a:rPr>
              <a:t>Turning Raw Data into Behavioral Signal</a:t>
            </a:r>
            <a:endParaRPr lang="en-US" sz="3000" dirty="0"/>
          </a:p>
        </p:txBody>
      </p:sp>
      <p:sp>
        <p:nvSpPr>
          <p:cNvPr id="4" name="Text 2"/>
          <p:cNvSpPr/>
          <p:nvPr/>
        </p:nvSpPr>
        <p:spPr>
          <a:xfrm>
            <a:off x="502920" y="1207008"/>
            <a:ext cx="8138160" cy="411480"/>
          </a:xfrm>
          <a:prstGeom prst="rect">
            <a:avLst/>
          </a:prstGeom>
          <a:noFill/>
          <a:ln/>
        </p:spPr>
        <p:txBody>
          <a:bodyPr wrap="square" rtlCol="0" anchor="ctr"/>
          <a:lstStyle/>
          <a:p>
            <a:pPr marL="0" indent="0">
              <a:buNone/>
            </a:pPr>
            <a:r>
              <a:rPr lang="en-US" sz="1350" i="1" dirty="0">
                <a:solidFill>
                  <a:srgbClr val="9FB4BD"/>
                </a:solidFill>
                <a:latin typeface="Calibri" pitchFamily="34" charset="0"/>
                <a:ea typeface="Calibri" pitchFamily="34" charset="-122"/>
                <a:cs typeface="Calibri" pitchFamily="34" charset="-120"/>
              </a:rPr>
              <a:t>Three custom KPIs were engineered to unlock insights no raw column could reveal on its own.</a:t>
            </a:r>
            <a:endParaRPr lang="en-US" sz="1350" dirty="0"/>
          </a:p>
        </p:txBody>
      </p:sp>
      <p:sp>
        <p:nvSpPr>
          <p:cNvPr id="5" name="Shape 3"/>
          <p:cNvSpPr/>
          <p:nvPr/>
        </p:nvSpPr>
        <p:spPr>
          <a:xfrm>
            <a:off x="502920" y="1783080"/>
            <a:ext cx="2587752" cy="2606040"/>
          </a:xfrm>
          <a:prstGeom prst="roundRect">
            <a:avLst>
              <a:gd name="adj" fmla="val 4240"/>
            </a:avLst>
          </a:prstGeom>
          <a:solidFill>
            <a:srgbClr val="1B2D36">
              <a:alpha val="72000"/>
            </a:srgbClr>
          </a:solidFill>
          <a:ln w="9525">
            <a:solidFill>
              <a:srgbClr val="00D2F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6" name="Image 0" descr="preencoded.png"/>
          <p:cNvPicPr>
            <a:picLocks noChangeAspect="1"/>
          </p:cNvPicPr>
          <p:nvPr/>
        </p:nvPicPr>
        <p:blipFill>
          <a:blip r:embed="rId4"/>
          <a:stretch>
            <a:fillRect/>
          </a:stretch>
        </p:blipFill>
        <p:spPr>
          <a:xfrm>
            <a:off x="722376" y="2020824"/>
            <a:ext cx="457200" cy="457200"/>
          </a:xfrm>
          <a:prstGeom prst="rect">
            <a:avLst/>
          </a:prstGeom>
        </p:spPr>
      </p:pic>
      <p:sp>
        <p:nvSpPr>
          <p:cNvPr id="7" name="Text 4"/>
          <p:cNvSpPr/>
          <p:nvPr/>
        </p:nvSpPr>
        <p:spPr>
          <a:xfrm>
            <a:off x="722376" y="2569464"/>
            <a:ext cx="2130552" cy="365760"/>
          </a:xfrm>
          <a:prstGeom prst="rect">
            <a:avLst/>
          </a:prstGeom>
          <a:noFill/>
          <a:ln/>
        </p:spPr>
        <p:txBody>
          <a:bodyPr wrap="square" rtlCol="0" anchor="ctr"/>
          <a:lstStyle/>
          <a:p>
            <a:pPr marL="0" indent="0">
              <a:buNone/>
            </a:pPr>
            <a:r>
              <a:rPr lang="en-US" sz="1450" b="1" dirty="0">
                <a:solidFill>
                  <a:srgbClr val="F4FBFD"/>
                </a:solidFill>
                <a:latin typeface="Century Schoolbook" pitchFamily="34" charset="0"/>
                <a:ea typeface="Century Schoolbook" pitchFamily="34" charset="-122"/>
                <a:cs typeface="Century Schoolbook" pitchFamily="34" charset="-120"/>
              </a:rPr>
              <a:t>AI Usage Ratio</a:t>
            </a:r>
            <a:endParaRPr lang="en-US" sz="1450" dirty="0"/>
          </a:p>
        </p:txBody>
      </p:sp>
      <p:sp>
        <p:nvSpPr>
          <p:cNvPr id="8" name="Shape 5"/>
          <p:cNvSpPr/>
          <p:nvPr/>
        </p:nvSpPr>
        <p:spPr>
          <a:xfrm>
            <a:off x="722376" y="2971800"/>
            <a:ext cx="2148840" cy="384048"/>
          </a:xfrm>
          <a:prstGeom prst="roundRect">
            <a:avLst>
              <a:gd name="adj" fmla="val 14286"/>
            </a:avLst>
          </a:prstGeom>
          <a:solidFill>
            <a:srgbClr val="0B1519">
              <a:alpha val="90000"/>
            </a:srgbClr>
          </a:solidFill>
          <a:ln w="9525">
            <a:solidFill>
              <a:srgbClr val="00D2FF">
                <a:alpha val="65000"/>
              </a:srgbClr>
            </a:solidFill>
            <a:prstDash val="solid"/>
          </a:ln>
        </p:spPr>
        <p:txBody>
          <a:bodyPr/>
          <a:lstStyle/>
          <a:p>
            <a:endParaRPr lang="en-US"/>
          </a:p>
        </p:txBody>
      </p:sp>
      <p:sp>
        <p:nvSpPr>
          <p:cNvPr id="9" name="Text 6"/>
          <p:cNvSpPr/>
          <p:nvPr/>
        </p:nvSpPr>
        <p:spPr>
          <a:xfrm>
            <a:off x="777240" y="2971800"/>
            <a:ext cx="2039112" cy="384048"/>
          </a:xfrm>
          <a:prstGeom prst="rect">
            <a:avLst/>
          </a:prstGeom>
          <a:noFill/>
          <a:ln/>
        </p:spPr>
        <p:txBody>
          <a:bodyPr wrap="square" rtlCol="0" anchor="ctr"/>
          <a:lstStyle/>
          <a:p>
            <a:pPr marL="0" indent="0">
              <a:buNone/>
            </a:pPr>
            <a:r>
              <a:rPr lang="en-US" sz="930" dirty="0">
                <a:solidFill>
                  <a:srgbClr val="00D2FF"/>
                </a:solidFill>
                <a:latin typeface="Courier New" pitchFamily="34" charset="0"/>
                <a:ea typeface="Courier New" pitchFamily="34" charset="-122"/>
                <a:cs typeface="Courier New" pitchFamily="34" charset="-120"/>
              </a:rPr>
              <a:t>GenAI Hrs ÷ Total Study Hrs</a:t>
            </a:r>
            <a:endParaRPr lang="en-US" sz="930" dirty="0"/>
          </a:p>
        </p:txBody>
      </p:sp>
      <p:sp>
        <p:nvSpPr>
          <p:cNvPr id="10" name="Text 7"/>
          <p:cNvSpPr/>
          <p:nvPr/>
        </p:nvSpPr>
        <p:spPr>
          <a:xfrm>
            <a:off x="722376" y="3474720"/>
            <a:ext cx="2148840" cy="822960"/>
          </a:xfrm>
          <a:prstGeom prst="rect">
            <a:avLst/>
          </a:prstGeom>
          <a:noFill/>
          <a:ln/>
        </p:spPr>
        <p:txBody>
          <a:bodyPr wrap="square" rtlCol="0" anchor="ctr"/>
          <a:lstStyle/>
          <a:p>
            <a:pPr marL="0" indent="0">
              <a:lnSpc>
                <a:spcPct val="120000"/>
              </a:lnSpc>
              <a:buNone/>
            </a:pPr>
            <a:r>
              <a:rPr lang="en-US" sz="1080" dirty="0">
                <a:solidFill>
                  <a:srgbClr val="9FB4BD"/>
                </a:solidFill>
                <a:latin typeface="Calibri" pitchFamily="34" charset="0"/>
                <a:ea typeface="Calibri" pitchFamily="34" charset="-122"/>
                <a:cs typeface="Calibri" pitchFamily="34" charset="-120"/>
              </a:rPr>
              <a:t>Captures reliance on AI relative to overall effort — not just raw usage.</a:t>
            </a:r>
            <a:endParaRPr lang="en-US" sz="1080" dirty="0"/>
          </a:p>
        </p:txBody>
      </p:sp>
      <p:sp>
        <p:nvSpPr>
          <p:cNvPr id="11" name="Shape 8"/>
          <p:cNvSpPr/>
          <p:nvPr/>
        </p:nvSpPr>
        <p:spPr>
          <a:xfrm>
            <a:off x="3273552" y="1783080"/>
            <a:ext cx="2587752" cy="2606040"/>
          </a:xfrm>
          <a:prstGeom prst="roundRect">
            <a:avLst>
              <a:gd name="adj" fmla="val 4240"/>
            </a:avLst>
          </a:prstGeom>
          <a:solidFill>
            <a:srgbClr val="1B2D36">
              <a:alpha val="72000"/>
            </a:srgbClr>
          </a:solidFill>
          <a:ln w="9525">
            <a:solidFill>
              <a:srgbClr val="FF007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12" name="Image 1" descr="preencoded.png"/>
          <p:cNvPicPr>
            <a:picLocks noChangeAspect="1"/>
          </p:cNvPicPr>
          <p:nvPr/>
        </p:nvPicPr>
        <p:blipFill>
          <a:blip r:embed="rId5"/>
          <a:stretch>
            <a:fillRect/>
          </a:stretch>
        </p:blipFill>
        <p:spPr>
          <a:xfrm>
            <a:off x="3493008" y="2020824"/>
            <a:ext cx="457200" cy="457200"/>
          </a:xfrm>
          <a:prstGeom prst="rect">
            <a:avLst/>
          </a:prstGeom>
        </p:spPr>
      </p:pic>
      <p:sp>
        <p:nvSpPr>
          <p:cNvPr id="13" name="Text 9"/>
          <p:cNvSpPr/>
          <p:nvPr/>
        </p:nvSpPr>
        <p:spPr>
          <a:xfrm>
            <a:off x="3493008" y="2569464"/>
            <a:ext cx="2130552" cy="365760"/>
          </a:xfrm>
          <a:prstGeom prst="rect">
            <a:avLst/>
          </a:prstGeom>
          <a:noFill/>
          <a:ln/>
        </p:spPr>
        <p:txBody>
          <a:bodyPr wrap="square" rtlCol="0" anchor="ctr"/>
          <a:lstStyle/>
          <a:p>
            <a:pPr marL="0" indent="0">
              <a:buNone/>
            </a:pPr>
            <a:r>
              <a:rPr lang="en-US" sz="1450" b="1" dirty="0">
                <a:solidFill>
                  <a:srgbClr val="F4FBFD"/>
                </a:solidFill>
                <a:latin typeface="Century Schoolbook" pitchFamily="34" charset="0"/>
                <a:ea typeface="Century Schoolbook" pitchFamily="34" charset="-122"/>
                <a:cs typeface="Century Schoolbook" pitchFamily="34" charset="-120"/>
              </a:rPr>
              <a:t>Burnout Index</a:t>
            </a:r>
            <a:endParaRPr lang="en-US" sz="1450" dirty="0"/>
          </a:p>
        </p:txBody>
      </p:sp>
      <p:sp>
        <p:nvSpPr>
          <p:cNvPr id="14" name="Shape 10"/>
          <p:cNvSpPr/>
          <p:nvPr/>
        </p:nvSpPr>
        <p:spPr>
          <a:xfrm>
            <a:off x="3493008" y="2971800"/>
            <a:ext cx="2148840" cy="384048"/>
          </a:xfrm>
          <a:prstGeom prst="roundRect">
            <a:avLst>
              <a:gd name="adj" fmla="val 14286"/>
            </a:avLst>
          </a:prstGeom>
          <a:solidFill>
            <a:srgbClr val="0B1519">
              <a:alpha val="90000"/>
            </a:srgbClr>
          </a:solidFill>
          <a:ln w="9525">
            <a:solidFill>
              <a:srgbClr val="FF007F">
                <a:alpha val="65000"/>
              </a:srgbClr>
            </a:solidFill>
            <a:prstDash val="solid"/>
          </a:ln>
        </p:spPr>
        <p:txBody>
          <a:bodyPr/>
          <a:lstStyle/>
          <a:p>
            <a:endParaRPr lang="en-US"/>
          </a:p>
        </p:txBody>
      </p:sp>
      <p:sp>
        <p:nvSpPr>
          <p:cNvPr id="15" name="Text 11"/>
          <p:cNvSpPr/>
          <p:nvPr/>
        </p:nvSpPr>
        <p:spPr>
          <a:xfrm>
            <a:off x="3547872" y="2971800"/>
            <a:ext cx="2039112" cy="384048"/>
          </a:xfrm>
          <a:prstGeom prst="rect">
            <a:avLst/>
          </a:prstGeom>
          <a:noFill/>
          <a:ln/>
        </p:spPr>
        <p:txBody>
          <a:bodyPr wrap="square" rtlCol="0" anchor="ctr"/>
          <a:lstStyle/>
          <a:p>
            <a:pPr marL="0" indent="0">
              <a:buNone/>
            </a:pPr>
            <a:r>
              <a:rPr lang="en-US" sz="930" dirty="0">
                <a:solidFill>
                  <a:srgbClr val="FF007F"/>
                </a:solidFill>
                <a:latin typeface="Courier New" pitchFamily="34" charset="0"/>
                <a:ea typeface="Courier New" pitchFamily="34" charset="-122"/>
                <a:cs typeface="Courier New" pitchFamily="34" charset="-120"/>
              </a:rPr>
              <a:t>f(Anxiety, AI Dependency, Sleep Debt)</a:t>
            </a:r>
            <a:endParaRPr lang="en-US" sz="930" dirty="0"/>
          </a:p>
        </p:txBody>
      </p:sp>
      <p:sp>
        <p:nvSpPr>
          <p:cNvPr id="16" name="Text 12"/>
          <p:cNvSpPr/>
          <p:nvPr/>
        </p:nvSpPr>
        <p:spPr>
          <a:xfrm>
            <a:off x="3493008" y="3474720"/>
            <a:ext cx="2148840" cy="822960"/>
          </a:xfrm>
          <a:prstGeom prst="rect">
            <a:avLst/>
          </a:prstGeom>
          <a:noFill/>
          <a:ln/>
        </p:spPr>
        <p:txBody>
          <a:bodyPr wrap="square" rtlCol="0" anchor="ctr"/>
          <a:lstStyle/>
          <a:p>
            <a:pPr marL="0" indent="0">
              <a:lnSpc>
                <a:spcPct val="120000"/>
              </a:lnSpc>
              <a:buNone/>
            </a:pPr>
            <a:r>
              <a:rPr lang="en-US" sz="1080" dirty="0">
                <a:solidFill>
                  <a:srgbClr val="9FB4BD"/>
                </a:solidFill>
                <a:latin typeface="Calibri" pitchFamily="34" charset="0"/>
                <a:ea typeface="Calibri" pitchFamily="34" charset="-122"/>
                <a:cs typeface="Calibri" pitchFamily="34" charset="-120"/>
              </a:rPr>
              <a:t>A composite score quantifying psychological strain from academic + AI load.</a:t>
            </a:r>
            <a:endParaRPr lang="en-US" sz="1080" dirty="0"/>
          </a:p>
        </p:txBody>
      </p:sp>
      <p:sp>
        <p:nvSpPr>
          <p:cNvPr id="17" name="Shape 13"/>
          <p:cNvSpPr/>
          <p:nvPr/>
        </p:nvSpPr>
        <p:spPr>
          <a:xfrm>
            <a:off x="6044184" y="1783080"/>
            <a:ext cx="2587752" cy="2606040"/>
          </a:xfrm>
          <a:prstGeom prst="roundRect">
            <a:avLst>
              <a:gd name="adj" fmla="val 4240"/>
            </a:avLst>
          </a:prstGeom>
          <a:solidFill>
            <a:srgbClr val="1B2D36">
              <a:alpha val="72000"/>
            </a:srgbClr>
          </a:solidFill>
          <a:ln w="9525">
            <a:solidFill>
              <a:srgbClr val="39FF14">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18" name="Image 2" descr="preencoded.png"/>
          <p:cNvPicPr>
            <a:picLocks noChangeAspect="1"/>
          </p:cNvPicPr>
          <p:nvPr/>
        </p:nvPicPr>
        <p:blipFill>
          <a:blip r:embed="rId6"/>
          <a:stretch>
            <a:fillRect/>
          </a:stretch>
        </p:blipFill>
        <p:spPr>
          <a:xfrm>
            <a:off x="6263640" y="2020824"/>
            <a:ext cx="457200" cy="457200"/>
          </a:xfrm>
          <a:prstGeom prst="rect">
            <a:avLst/>
          </a:prstGeom>
        </p:spPr>
      </p:pic>
      <p:sp>
        <p:nvSpPr>
          <p:cNvPr id="19" name="Text 14"/>
          <p:cNvSpPr/>
          <p:nvPr/>
        </p:nvSpPr>
        <p:spPr>
          <a:xfrm>
            <a:off x="6263640" y="2569464"/>
            <a:ext cx="2130552" cy="365760"/>
          </a:xfrm>
          <a:prstGeom prst="rect">
            <a:avLst/>
          </a:prstGeom>
          <a:noFill/>
          <a:ln/>
        </p:spPr>
        <p:txBody>
          <a:bodyPr wrap="square" rtlCol="0" anchor="ctr"/>
          <a:lstStyle/>
          <a:p>
            <a:pPr marL="0" indent="0">
              <a:buNone/>
            </a:pPr>
            <a:r>
              <a:rPr lang="en-US" sz="1450" b="1" dirty="0">
                <a:solidFill>
                  <a:srgbClr val="F4FBFD"/>
                </a:solidFill>
                <a:latin typeface="Century Schoolbook" pitchFamily="34" charset="0"/>
                <a:ea typeface="Century Schoolbook" pitchFamily="34" charset="-122"/>
                <a:cs typeface="Century Schoolbook" pitchFamily="34" charset="-120"/>
              </a:rPr>
              <a:t>Study Efficiency</a:t>
            </a:r>
            <a:endParaRPr lang="en-US" sz="1450" dirty="0"/>
          </a:p>
        </p:txBody>
      </p:sp>
      <p:sp>
        <p:nvSpPr>
          <p:cNvPr id="20" name="Shape 15"/>
          <p:cNvSpPr/>
          <p:nvPr/>
        </p:nvSpPr>
        <p:spPr>
          <a:xfrm>
            <a:off x="6263640" y="2971800"/>
            <a:ext cx="2148840" cy="384048"/>
          </a:xfrm>
          <a:prstGeom prst="roundRect">
            <a:avLst>
              <a:gd name="adj" fmla="val 14286"/>
            </a:avLst>
          </a:prstGeom>
          <a:solidFill>
            <a:srgbClr val="0B1519">
              <a:alpha val="90000"/>
            </a:srgbClr>
          </a:solidFill>
          <a:ln w="9525">
            <a:solidFill>
              <a:srgbClr val="39FF14">
                <a:alpha val="65000"/>
              </a:srgbClr>
            </a:solidFill>
            <a:prstDash val="solid"/>
          </a:ln>
        </p:spPr>
        <p:txBody>
          <a:bodyPr/>
          <a:lstStyle/>
          <a:p>
            <a:endParaRPr lang="en-US"/>
          </a:p>
        </p:txBody>
      </p:sp>
      <p:sp>
        <p:nvSpPr>
          <p:cNvPr id="21" name="Text 16"/>
          <p:cNvSpPr/>
          <p:nvPr/>
        </p:nvSpPr>
        <p:spPr>
          <a:xfrm>
            <a:off x="6318504" y="2971800"/>
            <a:ext cx="2039112" cy="384048"/>
          </a:xfrm>
          <a:prstGeom prst="rect">
            <a:avLst/>
          </a:prstGeom>
          <a:noFill/>
          <a:ln/>
        </p:spPr>
        <p:txBody>
          <a:bodyPr wrap="square" rtlCol="0" anchor="ctr"/>
          <a:lstStyle/>
          <a:p>
            <a:pPr marL="0" indent="0">
              <a:buNone/>
            </a:pPr>
            <a:r>
              <a:rPr lang="en-US" sz="930" dirty="0">
                <a:solidFill>
                  <a:srgbClr val="39FF14"/>
                </a:solidFill>
                <a:latin typeface="Courier New" pitchFamily="34" charset="0"/>
                <a:ea typeface="Courier New" pitchFamily="34" charset="-122"/>
                <a:cs typeface="Courier New" pitchFamily="34" charset="-120"/>
              </a:rPr>
              <a:t>GPA Gain ÷ Traditional Study Hrs</a:t>
            </a:r>
            <a:endParaRPr lang="en-US" sz="930" dirty="0"/>
          </a:p>
        </p:txBody>
      </p:sp>
      <p:sp>
        <p:nvSpPr>
          <p:cNvPr id="22" name="Text 17"/>
          <p:cNvSpPr/>
          <p:nvPr/>
        </p:nvSpPr>
        <p:spPr>
          <a:xfrm>
            <a:off x="6263640" y="3474720"/>
            <a:ext cx="2148840" cy="822960"/>
          </a:xfrm>
          <a:prstGeom prst="rect">
            <a:avLst/>
          </a:prstGeom>
          <a:noFill/>
          <a:ln/>
        </p:spPr>
        <p:txBody>
          <a:bodyPr wrap="square" rtlCol="0" anchor="ctr"/>
          <a:lstStyle/>
          <a:p>
            <a:pPr marL="0" indent="0">
              <a:lnSpc>
                <a:spcPct val="120000"/>
              </a:lnSpc>
              <a:buNone/>
            </a:pPr>
            <a:r>
              <a:rPr lang="en-US" sz="1080" dirty="0">
                <a:solidFill>
                  <a:srgbClr val="9FB4BD"/>
                </a:solidFill>
                <a:latin typeface="Calibri" pitchFamily="34" charset="0"/>
                <a:ea typeface="Calibri" pitchFamily="34" charset="-122"/>
                <a:cs typeface="Calibri" pitchFamily="34" charset="-120"/>
              </a:rPr>
              <a:t>Measures output per unit of focused, non-AI-assisted effort.</a:t>
            </a:r>
            <a:endParaRPr lang="en-US" sz="1080" dirty="0"/>
          </a:p>
        </p:txBody>
      </p:sp>
      <p:sp>
        <p:nvSpPr>
          <p:cNvPr id="23" name="Text 18"/>
          <p:cNvSpPr/>
          <p:nvPr/>
        </p:nvSpPr>
        <p:spPr>
          <a:xfrm>
            <a:off x="7955280" y="4864608"/>
            <a:ext cx="1005840" cy="228600"/>
          </a:xfrm>
          <a:prstGeom prst="rect">
            <a:avLst/>
          </a:prstGeom>
          <a:noFill/>
          <a:ln/>
        </p:spPr>
        <p:txBody>
          <a:bodyPr wrap="square" rtlCol="0" anchor="ctr"/>
          <a:lstStyle/>
          <a:p>
            <a:pPr marL="0" indent="0" algn="r">
              <a:buNone/>
            </a:pPr>
            <a:r>
              <a:rPr lang="en-US" sz="900" dirty="0">
                <a:solidFill>
                  <a:srgbClr val="9FB4BD"/>
                </a:solidFill>
                <a:latin typeface="Calibri" pitchFamily="34" charset="0"/>
                <a:ea typeface="Calibri" pitchFamily="34" charset="-122"/>
                <a:cs typeface="Calibri" pitchFamily="34" charset="-120"/>
              </a:rPr>
              <a:t>04 / 10</a:t>
            </a:r>
            <a:endParaRPr lang="en-US" sz="900" dirty="0"/>
          </a:p>
        </p:txBody>
      </p:sp>
      <p:sp>
        <p:nvSpPr>
          <p:cNvPr id="24" name="Text 19"/>
          <p:cNvSpPr/>
          <p:nvPr/>
        </p:nvSpPr>
        <p:spPr>
          <a:xfrm>
            <a:off x="457200" y="4864608"/>
            <a:ext cx="4572000" cy="228600"/>
          </a:xfrm>
          <a:prstGeom prst="rect">
            <a:avLst/>
          </a:prstGeom>
          <a:noFill/>
          <a:ln/>
        </p:spPr>
        <p:txBody>
          <a:bodyPr wrap="square" rtlCol="0" anchor="ctr"/>
          <a:lstStyle/>
          <a:p>
            <a:pPr marL="0" indent="0">
              <a:buNone/>
            </a:pPr>
            <a:r>
              <a:rPr lang="en-US" sz="900" kern="0" spc="200" dirty="0">
                <a:solidFill>
                  <a:srgbClr val="9FB4BD"/>
                </a:solidFill>
                <a:latin typeface="Calibri" pitchFamily="34" charset="0"/>
                <a:ea typeface="Calibri" pitchFamily="34" charset="-122"/>
                <a:cs typeface="Calibri" pitchFamily="34" charset="-120"/>
              </a:rPr>
              <a:t>AI STUDENT IMPACT ANALYSIS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92608"/>
          </a:xfrm>
          <a:prstGeom prst="rect">
            <a:avLst/>
          </a:prstGeom>
          <a:noFill/>
          <a:ln/>
        </p:spPr>
        <p:txBody>
          <a:bodyPr wrap="square" rtlCol="0" anchor="ctr"/>
          <a:lstStyle/>
          <a:p>
            <a:pPr marL="0" indent="0">
              <a:buNone/>
            </a:pPr>
            <a:r>
              <a:rPr lang="en-US" sz="1250" b="1" kern="0" spc="300" dirty="0">
                <a:solidFill>
                  <a:srgbClr val="00D2FF"/>
                </a:solidFill>
                <a:latin typeface="Calibri" pitchFamily="34" charset="0"/>
                <a:ea typeface="Calibri" pitchFamily="34" charset="-122"/>
                <a:cs typeface="Calibri" pitchFamily="34" charset="-120"/>
              </a:rPr>
              <a:t>04  ·  PREDICTIVE MODELING</a:t>
            </a:r>
            <a:endParaRPr lang="en-US" sz="1250" dirty="0"/>
          </a:p>
        </p:txBody>
      </p:sp>
      <p:sp>
        <p:nvSpPr>
          <p:cNvPr id="3" name="Text 1"/>
          <p:cNvSpPr/>
          <p:nvPr/>
        </p:nvSpPr>
        <p:spPr>
          <a:xfrm>
            <a:off x="502920" y="566928"/>
            <a:ext cx="8138160" cy="566928"/>
          </a:xfrm>
          <a:prstGeom prst="rect">
            <a:avLst/>
          </a:prstGeom>
          <a:noFill/>
          <a:ln/>
        </p:spPr>
        <p:txBody>
          <a:bodyPr wrap="square" rtlCol="0" anchor="ctr"/>
          <a:lstStyle/>
          <a:p>
            <a:pPr marL="0" indent="0">
              <a:buNone/>
            </a:pPr>
            <a:r>
              <a:rPr lang="en-US" sz="3000" b="1" dirty="0">
                <a:solidFill>
                  <a:srgbClr val="F4FBFD"/>
                </a:solidFill>
                <a:latin typeface="Century Schoolbook" pitchFamily="34" charset="0"/>
                <a:ea typeface="Century Schoolbook" pitchFamily="34" charset="-122"/>
                <a:cs typeface="Century Schoolbook" pitchFamily="34" charset="-120"/>
              </a:rPr>
              <a:t>Forecasting Outcomes with XGBoost Regressors</a:t>
            </a:r>
            <a:endParaRPr lang="en-US" sz="3000" dirty="0"/>
          </a:p>
        </p:txBody>
      </p:sp>
      <p:sp>
        <p:nvSpPr>
          <p:cNvPr id="4" name="Shape 2"/>
          <p:cNvSpPr/>
          <p:nvPr/>
        </p:nvSpPr>
        <p:spPr>
          <a:xfrm>
            <a:off x="502920" y="1234440"/>
            <a:ext cx="3246120" cy="3429000"/>
          </a:xfrm>
          <a:prstGeom prst="roundRect">
            <a:avLst>
              <a:gd name="adj" fmla="val 3380"/>
            </a:avLst>
          </a:prstGeom>
          <a:solidFill>
            <a:srgbClr val="1B2D36">
              <a:alpha val="72000"/>
            </a:srgbClr>
          </a:solidFill>
          <a:ln w="9525">
            <a:solidFill>
              <a:srgbClr val="00D2F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5" name="Image 0" descr="preencoded.png"/>
          <p:cNvPicPr>
            <a:picLocks noChangeAspect="1"/>
          </p:cNvPicPr>
          <p:nvPr/>
        </p:nvPicPr>
        <p:blipFill>
          <a:blip r:embed="rId4"/>
          <a:stretch>
            <a:fillRect/>
          </a:stretch>
        </p:blipFill>
        <p:spPr>
          <a:xfrm>
            <a:off x="731520" y="1463040"/>
            <a:ext cx="457200" cy="457200"/>
          </a:xfrm>
          <a:prstGeom prst="rect">
            <a:avLst/>
          </a:prstGeom>
        </p:spPr>
      </p:pic>
      <p:sp>
        <p:nvSpPr>
          <p:cNvPr id="6" name="Text 3"/>
          <p:cNvSpPr/>
          <p:nvPr/>
        </p:nvSpPr>
        <p:spPr>
          <a:xfrm>
            <a:off x="777240" y="1993392"/>
            <a:ext cx="2834640" cy="320040"/>
          </a:xfrm>
          <a:prstGeom prst="rect">
            <a:avLst/>
          </a:prstGeom>
          <a:noFill/>
          <a:ln/>
        </p:spPr>
        <p:txBody>
          <a:bodyPr wrap="square" rtlCol="0" anchor="ctr"/>
          <a:lstStyle/>
          <a:p>
            <a:pPr marL="0" indent="0">
              <a:buNone/>
            </a:pPr>
            <a:r>
              <a:rPr lang="en-US" sz="1400" b="1" dirty="0">
                <a:solidFill>
                  <a:srgbClr val="F4FBFD"/>
                </a:solidFill>
                <a:latin typeface="Century Schoolbook" pitchFamily="34" charset="0"/>
                <a:ea typeface="Century Schoolbook" pitchFamily="34" charset="-122"/>
                <a:cs typeface="Century Schoolbook" pitchFamily="34" charset="-120"/>
              </a:rPr>
              <a:t>Two Regression Targets</a:t>
            </a:r>
            <a:endParaRPr lang="en-US" sz="1400" dirty="0"/>
          </a:p>
        </p:txBody>
      </p:sp>
      <p:sp>
        <p:nvSpPr>
          <p:cNvPr id="7" name="Text 4"/>
          <p:cNvSpPr/>
          <p:nvPr/>
        </p:nvSpPr>
        <p:spPr>
          <a:xfrm>
            <a:off x="777240" y="2423160"/>
            <a:ext cx="2834640" cy="2103120"/>
          </a:xfrm>
          <a:prstGeom prst="rect">
            <a:avLst/>
          </a:prstGeom>
          <a:noFill/>
          <a:ln/>
        </p:spPr>
        <p:txBody>
          <a:bodyPr wrap="square" rtlCol="0" anchor="ctr"/>
          <a:lstStyle/>
          <a:p>
            <a:pPr marL="342900" indent="-342900">
              <a:lnSpc>
                <a:spcPct val="115000"/>
              </a:lnSpc>
              <a:spcAft>
                <a:spcPts val="600"/>
              </a:spcAft>
              <a:buSzPct val="100000"/>
              <a:buChar char="●"/>
            </a:pPr>
            <a:r>
              <a:rPr lang="en-US" sz="1250" b="1" dirty="0">
                <a:solidFill>
                  <a:srgbClr val="00D2FF"/>
                </a:solidFill>
                <a:latin typeface="Calibri" pitchFamily="34" charset="0"/>
                <a:ea typeface="Calibri" pitchFamily="34" charset="-122"/>
                <a:cs typeface="Calibri" pitchFamily="34" charset="-120"/>
              </a:rPr>
              <a:t>Post-Semester GPA</a:t>
            </a:r>
            <a:endParaRPr lang="en-US" sz="1250" dirty="0"/>
          </a:p>
          <a:p>
            <a:pPr marL="0" indent="0">
              <a:lnSpc>
                <a:spcPct val="115000"/>
              </a:lnSpc>
              <a:spcAft>
                <a:spcPts val="1400"/>
              </a:spcAft>
              <a:buNone/>
            </a:pPr>
            <a:r>
              <a:rPr lang="en-US" sz="1050" dirty="0">
                <a:solidFill>
                  <a:srgbClr val="9FB4BD"/>
                </a:solidFill>
                <a:latin typeface="Calibri" pitchFamily="34" charset="0"/>
                <a:ea typeface="Calibri" pitchFamily="34" charset="-122"/>
                <a:cs typeface="Calibri" pitchFamily="34" charset="-120"/>
              </a:rPr>
              <a:t>Predicted from engineered KPIs + raw behavioral features.</a:t>
            </a:r>
            <a:endParaRPr lang="en-US" sz="1250" dirty="0"/>
          </a:p>
          <a:p>
            <a:pPr marL="342900" indent="-342900">
              <a:lnSpc>
                <a:spcPct val="115000"/>
              </a:lnSpc>
              <a:spcAft>
                <a:spcPts val="600"/>
              </a:spcAft>
              <a:buSzPct val="100000"/>
              <a:buChar char="●"/>
            </a:pPr>
            <a:r>
              <a:rPr lang="en-US" sz="1250" b="1" dirty="0">
                <a:solidFill>
                  <a:srgbClr val="39FF14"/>
                </a:solidFill>
                <a:latin typeface="Calibri" pitchFamily="34" charset="0"/>
                <a:ea typeface="Calibri" pitchFamily="34" charset="-122"/>
                <a:cs typeface="Calibri" pitchFamily="34" charset="-120"/>
              </a:rPr>
              <a:t>Skill Retention Score</a:t>
            </a:r>
            <a:endParaRPr lang="en-US" sz="1250" dirty="0"/>
          </a:p>
          <a:p>
            <a:pPr marL="0" indent="0">
              <a:lnSpc>
                <a:spcPct val="115000"/>
              </a:lnSpc>
              <a:buNone/>
            </a:pPr>
            <a:r>
              <a:rPr lang="en-US" sz="1050" dirty="0">
                <a:solidFill>
                  <a:srgbClr val="9FB4BD"/>
                </a:solidFill>
                <a:latin typeface="Calibri" pitchFamily="34" charset="0"/>
                <a:ea typeface="Calibri" pitchFamily="34" charset="-122"/>
                <a:cs typeface="Calibri" pitchFamily="34" charset="-120"/>
              </a:rPr>
              <a:t>Tracks whether foundational competency holds up over the term.</a:t>
            </a:r>
            <a:endParaRPr lang="en-US" sz="1250" dirty="0"/>
          </a:p>
        </p:txBody>
      </p:sp>
      <p:sp>
        <p:nvSpPr>
          <p:cNvPr id="8" name="Shape 5"/>
          <p:cNvSpPr/>
          <p:nvPr/>
        </p:nvSpPr>
        <p:spPr>
          <a:xfrm>
            <a:off x="3931920" y="1234440"/>
            <a:ext cx="4709160" cy="3429000"/>
          </a:xfrm>
          <a:prstGeom prst="roundRect">
            <a:avLst>
              <a:gd name="adj" fmla="val 3200"/>
            </a:avLst>
          </a:prstGeom>
          <a:solidFill>
            <a:srgbClr val="1B2D36">
              <a:alpha val="72000"/>
            </a:srgbClr>
          </a:solidFill>
          <a:ln w="9525">
            <a:solidFill>
              <a:srgbClr val="FF007F">
                <a:alpha val="45000"/>
              </a:srgbClr>
            </a:solidFill>
            <a:prstDash val="solid"/>
          </a:ln>
          <a:effectLst>
            <a:outerShdw blurRad="127000" dist="38100" dir="5400000" algn="bl" rotWithShape="0">
              <a:srgbClr val="000000">
                <a:alpha val="35000"/>
              </a:srgbClr>
            </a:outerShdw>
          </a:effectLst>
        </p:spPr>
        <p:txBody>
          <a:bodyPr/>
          <a:lstStyle/>
          <a:p>
            <a:endParaRPr lang="en-US"/>
          </a:p>
        </p:txBody>
      </p:sp>
      <p:sp>
        <p:nvSpPr>
          <p:cNvPr id="9" name="Text 6"/>
          <p:cNvSpPr/>
          <p:nvPr/>
        </p:nvSpPr>
        <p:spPr>
          <a:xfrm>
            <a:off x="4160520" y="1371600"/>
            <a:ext cx="4297680" cy="274320"/>
          </a:xfrm>
          <a:prstGeom prst="rect">
            <a:avLst/>
          </a:prstGeom>
          <a:noFill/>
          <a:ln/>
        </p:spPr>
        <p:txBody>
          <a:bodyPr wrap="square" rtlCol="0" anchor="ctr"/>
          <a:lstStyle/>
          <a:p>
            <a:pPr marL="0" indent="0">
              <a:buNone/>
            </a:pPr>
            <a:r>
              <a:rPr lang="en-US" sz="1300" b="1" dirty="0">
                <a:solidFill>
                  <a:srgbClr val="FF007F"/>
                </a:solidFill>
                <a:latin typeface="Century Schoolbook" pitchFamily="34" charset="0"/>
                <a:ea typeface="Century Schoolbook" pitchFamily="34" charset="-122"/>
                <a:cs typeface="Century Schoolbook" pitchFamily="34" charset="-120"/>
              </a:rPr>
              <a:t>Actual vs. Predicted GPA</a:t>
            </a:r>
            <a:endParaRPr lang="en-US" sz="1300" dirty="0"/>
          </a:p>
        </p:txBody>
      </p:sp>
      <p:graphicFrame>
        <p:nvGraphicFramePr>
          <p:cNvPr id="10" name="Chart 0"/>
          <p:cNvGraphicFramePr/>
          <p:nvPr/>
        </p:nvGraphicFramePr>
        <p:xfrm>
          <a:off x="4041648" y="1691640"/>
          <a:ext cx="4480560" cy="283464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 7"/>
          <p:cNvSpPr/>
          <p:nvPr/>
        </p:nvSpPr>
        <p:spPr>
          <a:xfrm>
            <a:off x="7955280" y="4864608"/>
            <a:ext cx="1005840" cy="228600"/>
          </a:xfrm>
          <a:prstGeom prst="rect">
            <a:avLst/>
          </a:prstGeom>
          <a:noFill/>
          <a:ln/>
        </p:spPr>
        <p:txBody>
          <a:bodyPr wrap="square" rtlCol="0" anchor="ctr"/>
          <a:lstStyle/>
          <a:p>
            <a:pPr marL="0" indent="0" algn="r">
              <a:buNone/>
            </a:pPr>
            <a:r>
              <a:rPr lang="en-US" sz="900" dirty="0">
                <a:solidFill>
                  <a:srgbClr val="9FB4BD"/>
                </a:solidFill>
                <a:latin typeface="Calibri" pitchFamily="34" charset="0"/>
                <a:ea typeface="Calibri" pitchFamily="34" charset="-122"/>
                <a:cs typeface="Calibri" pitchFamily="34" charset="-120"/>
              </a:rPr>
              <a:t>05 / 10</a:t>
            </a:r>
            <a:endParaRPr lang="en-US" sz="900" dirty="0"/>
          </a:p>
        </p:txBody>
      </p:sp>
      <p:sp>
        <p:nvSpPr>
          <p:cNvPr id="12" name="Text 8"/>
          <p:cNvSpPr/>
          <p:nvPr/>
        </p:nvSpPr>
        <p:spPr>
          <a:xfrm>
            <a:off x="457200" y="4864608"/>
            <a:ext cx="4572000" cy="228600"/>
          </a:xfrm>
          <a:prstGeom prst="rect">
            <a:avLst/>
          </a:prstGeom>
          <a:noFill/>
          <a:ln/>
        </p:spPr>
        <p:txBody>
          <a:bodyPr wrap="square" rtlCol="0" anchor="ctr"/>
          <a:lstStyle/>
          <a:p>
            <a:pPr marL="0" indent="0">
              <a:buNone/>
            </a:pPr>
            <a:r>
              <a:rPr lang="en-US" sz="900" kern="0" spc="200" dirty="0">
                <a:solidFill>
                  <a:srgbClr val="9FB4BD"/>
                </a:solidFill>
                <a:latin typeface="Calibri" pitchFamily="34" charset="0"/>
                <a:ea typeface="Calibri" pitchFamily="34" charset="-122"/>
                <a:cs typeface="Calibri" pitchFamily="34" charset="-120"/>
              </a:rPr>
              <a:t>AI STUDENT IMPACT ANALYSIS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92608"/>
          </a:xfrm>
          <a:prstGeom prst="rect">
            <a:avLst/>
          </a:prstGeom>
          <a:noFill/>
          <a:ln/>
        </p:spPr>
        <p:txBody>
          <a:bodyPr wrap="square" rtlCol="0" anchor="ctr"/>
          <a:lstStyle/>
          <a:p>
            <a:pPr marL="0" indent="0">
              <a:buNone/>
            </a:pPr>
            <a:r>
              <a:rPr lang="en-US" sz="1250" b="1" kern="0" spc="300" dirty="0">
                <a:solidFill>
                  <a:srgbClr val="FF007F"/>
                </a:solidFill>
                <a:latin typeface="Calibri" pitchFamily="34" charset="0"/>
                <a:ea typeface="Calibri" pitchFamily="34" charset="-122"/>
                <a:cs typeface="Calibri" pitchFamily="34" charset="-120"/>
              </a:rPr>
              <a:t>05  ·  BURNOUT RISK CLASSIFICATION</a:t>
            </a:r>
            <a:endParaRPr lang="en-US" sz="1250" dirty="0"/>
          </a:p>
        </p:txBody>
      </p:sp>
      <p:sp>
        <p:nvSpPr>
          <p:cNvPr id="3" name="Text 1"/>
          <p:cNvSpPr/>
          <p:nvPr/>
        </p:nvSpPr>
        <p:spPr>
          <a:xfrm>
            <a:off x="502920" y="566928"/>
            <a:ext cx="8138160" cy="566928"/>
          </a:xfrm>
          <a:prstGeom prst="rect">
            <a:avLst/>
          </a:prstGeom>
          <a:noFill/>
          <a:ln/>
        </p:spPr>
        <p:txBody>
          <a:bodyPr wrap="square" rtlCol="0" anchor="ctr"/>
          <a:lstStyle/>
          <a:p>
            <a:pPr marL="0" indent="0">
              <a:buNone/>
            </a:pPr>
            <a:r>
              <a:rPr lang="en-US" sz="3000" b="1" dirty="0">
                <a:solidFill>
                  <a:srgbClr val="F4FBFD"/>
                </a:solidFill>
                <a:latin typeface="Century Schoolbook" pitchFamily="34" charset="0"/>
                <a:ea typeface="Century Schoolbook" pitchFamily="34" charset="-122"/>
                <a:cs typeface="Century Schoolbook" pitchFamily="34" charset="-120"/>
              </a:rPr>
              <a:t>Classifying Students by Burnout Risk</a:t>
            </a:r>
            <a:endParaRPr lang="en-US" sz="3000" dirty="0"/>
          </a:p>
        </p:txBody>
      </p:sp>
      <p:sp>
        <p:nvSpPr>
          <p:cNvPr id="4" name="Shape 2"/>
          <p:cNvSpPr/>
          <p:nvPr/>
        </p:nvSpPr>
        <p:spPr>
          <a:xfrm>
            <a:off x="502920" y="1234440"/>
            <a:ext cx="4023360" cy="3429000"/>
          </a:xfrm>
          <a:prstGeom prst="roundRect">
            <a:avLst>
              <a:gd name="adj" fmla="val 3200"/>
            </a:avLst>
          </a:prstGeom>
          <a:solidFill>
            <a:srgbClr val="1B2D36">
              <a:alpha val="72000"/>
            </a:srgbClr>
          </a:solidFill>
          <a:ln w="9525">
            <a:solidFill>
              <a:srgbClr val="FF007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5" name="Image 0" descr="preencoded.png"/>
          <p:cNvPicPr>
            <a:picLocks noChangeAspect="1"/>
          </p:cNvPicPr>
          <p:nvPr/>
        </p:nvPicPr>
        <p:blipFill>
          <a:blip r:embed="rId4"/>
          <a:stretch>
            <a:fillRect/>
          </a:stretch>
        </p:blipFill>
        <p:spPr>
          <a:xfrm>
            <a:off x="731520" y="1463040"/>
            <a:ext cx="457200" cy="457200"/>
          </a:xfrm>
          <a:prstGeom prst="rect">
            <a:avLst/>
          </a:prstGeom>
        </p:spPr>
      </p:pic>
      <p:sp>
        <p:nvSpPr>
          <p:cNvPr id="6" name="Text 3"/>
          <p:cNvSpPr/>
          <p:nvPr/>
        </p:nvSpPr>
        <p:spPr>
          <a:xfrm>
            <a:off x="1280160" y="1536192"/>
            <a:ext cx="3108960" cy="365760"/>
          </a:xfrm>
          <a:prstGeom prst="rect">
            <a:avLst/>
          </a:prstGeom>
          <a:noFill/>
          <a:ln/>
        </p:spPr>
        <p:txBody>
          <a:bodyPr wrap="square" rtlCol="0" anchor="ctr"/>
          <a:lstStyle/>
          <a:p>
            <a:pPr marL="0" indent="0">
              <a:buNone/>
            </a:pPr>
            <a:r>
              <a:rPr lang="en-US" sz="1500" b="1" dirty="0">
                <a:solidFill>
                  <a:srgbClr val="F4FBFD"/>
                </a:solidFill>
                <a:latin typeface="Century Schoolbook" pitchFamily="34" charset="0"/>
                <a:ea typeface="Century Schoolbook" pitchFamily="34" charset="-122"/>
                <a:cs typeface="Century Schoolbook" pitchFamily="34" charset="-120"/>
              </a:rPr>
              <a:t>XGBoost Classifier</a:t>
            </a:r>
            <a:endParaRPr lang="en-US" sz="1500" dirty="0"/>
          </a:p>
        </p:txBody>
      </p:sp>
      <p:sp>
        <p:nvSpPr>
          <p:cNvPr id="7" name="Text 4"/>
          <p:cNvSpPr/>
          <p:nvPr/>
        </p:nvSpPr>
        <p:spPr>
          <a:xfrm>
            <a:off x="731520" y="2103120"/>
            <a:ext cx="3520440" cy="777240"/>
          </a:xfrm>
          <a:prstGeom prst="rect">
            <a:avLst/>
          </a:prstGeom>
          <a:noFill/>
          <a:ln/>
        </p:spPr>
        <p:txBody>
          <a:bodyPr wrap="square" rtlCol="0" anchor="ctr"/>
          <a:lstStyle/>
          <a:p>
            <a:pPr marL="0" indent="0">
              <a:lnSpc>
                <a:spcPct val="120000"/>
              </a:lnSpc>
              <a:buNone/>
            </a:pPr>
            <a:r>
              <a:rPr lang="en-US" sz="1200" dirty="0">
                <a:solidFill>
                  <a:srgbClr val="9FB4BD"/>
                </a:solidFill>
                <a:latin typeface="Calibri" pitchFamily="34" charset="0"/>
                <a:ea typeface="Calibri" pitchFamily="34" charset="-122"/>
                <a:cs typeface="Calibri" pitchFamily="34" charset="-120"/>
              </a:rPr>
              <a:t>Categorizes every student into a Low, Medium, or High burnout-risk tier, based primarily on anxiety scores and AI dependency signals.</a:t>
            </a:r>
            <a:endParaRPr lang="en-US" sz="1200" dirty="0"/>
          </a:p>
        </p:txBody>
      </p:sp>
      <p:sp>
        <p:nvSpPr>
          <p:cNvPr id="8" name="Text 5"/>
          <p:cNvSpPr/>
          <p:nvPr/>
        </p:nvSpPr>
        <p:spPr>
          <a:xfrm>
            <a:off x="731520" y="2926080"/>
            <a:ext cx="1828800" cy="685800"/>
          </a:xfrm>
          <a:prstGeom prst="rect">
            <a:avLst/>
          </a:prstGeom>
          <a:noFill/>
          <a:ln/>
        </p:spPr>
        <p:txBody>
          <a:bodyPr wrap="square" rtlCol="0" anchor="ctr"/>
          <a:lstStyle/>
          <a:p>
            <a:pPr marL="0" indent="0">
              <a:buNone/>
            </a:pPr>
            <a:r>
              <a:rPr lang="en-US" sz="4600" b="1" dirty="0">
                <a:solidFill>
                  <a:srgbClr val="39FF14"/>
                </a:solidFill>
                <a:latin typeface="Century Schoolbook" pitchFamily="34" charset="0"/>
                <a:ea typeface="Century Schoolbook" pitchFamily="34" charset="-122"/>
                <a:cs typeface="Century Schoolbook" pitchFamily="34" charset="-120"/>
              </a:rPr>
              <a:t>94.2%</a:t>
            </a:r>
            <a:endParaRPr lang="en-US" sz="4600" dirty="0"/>
          </a:p>
        </p:txBody>
      </p:sp>
      <p:sp>
        <p:nvSpPr>
          <p:cNvPr id="9" name="Text 6"/>
          <p:cNvSpPr/>
          <p:nvPr/>
        </p:nvSpPr>
        <p:spPr>
          <a:xfrm>
            <a:off x="749808" y="3584448"/>
            <a:ext cx="2194560" cy="274320"/>
          </a:xfrm>
          <a:prstGeom prst="rect">
            <a:avLst/>
          </a:prstGeom>
          <a:noFill/>
          <a:ln/>
        </p:spPr>
        <p:txBody>
          <a:bodyPr wrap="square" rtlCol="0" anchor="ctr"/>
          <a:lstStyle/>
          <a:p>
            <a:pPr marL="0" indent="0">
              <a:buNone/>
            </a:pPr>
            <a:r>
              <a:rPr lang="en-US" sz="1000" kern="0" spc="200" dirty="0">
                <a:solidFill>
                  <a:srgbClr val="9FB4BD"/>
                </a:solidFill>
                <a:latin typeface="Calibri" pitchFamily="34" charset="0"/>
                <a:ea typeface="Calibri" pitchFamily="34" charset="-122"/>
                <a:cs typeface="Calibri" pitchFamily="34" charset="-120"/>
              </a:rPr>
              <a:t>MODEL ACCURACY</a:t>
            </a:r>
            <a:endParaRPr lang="en-US" sz="1000" dirty="0"/>
          </a:p>
        </p:txBody>
      </p:sp>
      <p:sp>
        <p:nvSpPr>
          <p:cNvPr id="10" name="Text 7"/>
          <p:cNvSpPr/>
          <p:nvPr/>
        </p:nvSpPr>
        <p:spPr>
          <a:xfrm>
            <a:off x="2697480" y="3017520"/>
            <a:ext cx="1463040" cy="502920"/>
          </a:xfrm>
          <a:prstGeom prst="rect">
            <a:avLst/>
          </a:prstGeom>
          <a:noFill/>
          <a:ln/>
        </p:spPr>
        <p:txBody>
          <a:bodyPr wrap="square" rtlCol="0" anchor="ctr"/>
          <a:lstStyle/>
          <a:p>
            <a:pPr marL="0" indent="0">
              <a:buNone/>
            </a:pPr>
            <a:r>
              <a:rPr lang="en-US" sz="2400" b="1" dirty="0">
                <a:solidFill>
                  <a:srgbClr val="00D2FF"/>
                </a:solidFill>
                <a:latin typeface="Century Schoolbook" pitchFamily="34" charset="0"/>
                <a:ea typeface="Century Schoolbook" pitchFamily="34" charset="-122"/>
                <a:cs typeface="Century Schoolbook" pitchFamily="34" charset="-120"/>
              </a:rPr>
              <a:t>0.93</a:t>
            </a:r>
            <a:endParaRPr lang="en-US" sz="2400" dirty="0"/>
          </a:p>
        </p:txBody>
      </p:sp>
      <p:sp>
        <p:nvSpPr>
          <p:cNvPr id="11" name="Text 8"/>
          <p:cNvSpPr/>
          <p:nvPr/>
        </p:nvSpPr>
        <p:spPr>
          <a:xfrm>
            <a:off x="2697480" y="3520440"/>
            <a:ext cx="1737360" cy="274320"/>
          </a:xfrm>
          <a:prstGeom prst="rect">
            <a:avLst/>
          </a:prstGeom>
          <a:noFill/>
          <a:ln/>
        </p:spPr>
        <p:txBody>
          <a:bodyPr wrap="square" rtlCol="0" anchor="ctr"/>
          <a:lstStyle/>
          <a:p>
            <a:pPr marL="0" indent="0">
              <a:buNone/>
            </a:pPr>
            <a:r>
              <a:rPr lang="en-US" sz="870" kern="0" spc="100" dirty="0">
                <a:solidFill>
                  <a:srgbClr val="9FB4BD"/>
                </a:solidFill>
                <a:latin typeface="Calibri" pitchFamily="34" charset="0"/>
                <a:ea typeface="Calibri" pitchFamily="34" charset="-122"/>
                <a:cs typeface="Calibri" pitchFamily="34" charset="-120"/>
              </a:rPr>
              <a:t>F1-SCORE (WEIGHTED)</a:t>
            </a:r>
            <a:endParaRPr lang="en-US" sz="870" dirty="0"/>
          </a:p>
        </p:txBody>
      </p:sp>
      <p:sp>
        <p:nvSpPr>
          <p:cNvPr id="12" name="Shape 9"/>
          <p:cNvSpPr/>
          <p:nvPr/>
        </p:nvSpPr>
        <p:spPr>
          <a:xfrm>
            <a:off x="4709160" y="1234440"/>
            <a:ext cx="3931920" cy="3429000"/>
          </a:xfrm>
          <a:prstGeom prst="roundRect">
            <a:avLst>
              <a:gd name="adj" fmla="val 3200"/>
            </a:avLst>
          </a:prstGeom>
          <a:solidFill>
            <a:srgbClr val="1B2D36">
              <a:alpha val="72000"/>
            </a:srgbClr>
          </a:solidFill>
          <a:ln w="9525">
            <a:solidFill>
              <a:srgbClr val="00D2FF">
                <a:alpha val="45000"/>
              </a:srgbClr>
            </a:solidFill>
            <a:prstDash val="solid"/>
          </a:ln>
          <a:effectLst>
            <a:outerShdw blurRad="127000" dist="38100" dir="5400000" algn="bl" rotWithShape="0">
              <a:srgbClr val="000000">
                <a:alpha val="35000"/>
              </a:srgbClr>
            </a:outerShdw>
          </a:effectLst>
        </p:spPr>
        <p:txBody>
          <a:bodyPr/>
          <a:lstStyle/>
          <a:p>
            <a:endParaRPr lang="en-US"/>
          </a:p>
        </p:txBody>
      </p:sp>
      <p:sp>
        <p:nvSpPr>
          <p:cNvPr id="13" name="Text 10"/>
          <p:cNvSpPr/>
          <p:nvPr/>
        </p:nvSpPr>
        <p:spPr>
          <a:xfrm>
            <a:off x="4937760" y="1371600"/>
            <a:ext cx="3474720" cy="274320"/>
          </a:xfrm>
          <a:prstGeom prst="rect">
            <a:avLst/>
          </a:prstGeom>
          <a:noFill/>
          <a:ln/>
        </p:spPr>
        <p:txBody>
          <a:bodyPr wrap="square" rtlCol="0" anchor="ctr"/>
          <a:lstStyle/>
          <a:p>
            <a:pPr marL="0" indent="0">
              <a:buNone/>
            </a:pPr>
            <a:r>
              <a:rPr lang="en-US" sz="1300" b="1" dirty="0">
                <a:solidFill>
                  <a:srgbClr val="00D2FF"/>
                </a:solidFill>
                <a:latin typeface="Century Schoolbook" pitchFamily="34" charset="0"/>
                <a:ea typeface="Century Schoolbook" pitchFamily="34" charset="-122"/>
                <a:cs typeface="Century Schoolbook" pitchFamily="34" charset="-120"/>
              </a:rPr>
              <a:t>Predicted Risk Distribution</a:t>
            </a:r>
            <a:endParaRPr lang="en-US" sz="1300" dirty="0"/>
          </a:p>
        </p:txBody>
      </p:sp>
      <p:graphicFrame>
        <p:nvGraphicFramePr>
          <p:cNvPr id="14" name="Chart 0"/>
          <p:cNvGraphicFramePr/>
          <p:nvPr/>
        </p:nvGraphicFramePr>
        <p:xfrm>
          <a:off x="4846320" y="1783080"/>
          <a:ext cx="3703320" cy="2697480"/>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 11"/>
          <p:cNvSpPr/>
          <p:nvPr/>
        </p:nvSpPr>
        <p:spPr>
          <a:xfrm>
            <a:off x="7955280" y="4864608"/>
            <a:ext cx="1005840" cy="228600"/>
          </a:xfrm>
          <a:prstGeom prst="rect">
            <a:avLst/>
          </a:prstGeom>
          <a:noFill/>
          <a:ln/>
        </p:spPr>
        <p:txBody>
          <a:bodyPr wrap="square" rtlCol="0" anchor="ctr"/>
          <a:lstStyle/>
          <a:p>
            <a:pPr marL="0" indent="0" algn="r">
              <a:buNone/>
            </a:pPr>
            <a:r>
              <a:rPr lang="en-US" sz="900" dirty="0">
                <a:solidFill>
                  <a:srgbClr val="9FB4BD"/>
                </a:solidFill>
                <a:latin typeface="Calibri" pitchFamily="34" charset="0"/>
                <a:ea typeface="Calibri" pitchFamily="34" charset="-122"/>
                <a:cs typeface="Calibri" pitchFamily="34" charset="-120"/>
              </a:rPr>
              <a:t>06 / 10</a:t>
            </a:r>
            <a:endParaRPr lang="en-US" sz="900" dirty="0"/>
          </a:p>
        </p:txBody>
      </p:sp>
      <p:sp>
        <p:nvSpPr>
          <p:cNvPr id="16" name="Text 12"/>
          <p:cNvSpPr/>
          <p:nvPr/>
        </p:nvSpPr>
        <p:spPr>
          <a:xfrm>
            <a:off x="457200" y="4864608"/>
            <a:ext cx="4572000" cy="228600"/>
          </a:xfrm>
          <a:prstGeom prst="rect">
            <a:avLst/>
          </a:prstGeom>
          <a:noFill/>
          <a:ln/>
        </p:spPr>
        <p:txBody>
          <a:bodyPr wrap="square" rtlCol="0" anchor="ctr"/>
          <a:lstStyle/>
          <a:p>
            <a:pPr marL="0" indent="0">
              <a:buNone/>
            </a:pPr>
            <a:r>
              <a:rPr lang="en-US" sz="900" kern="0" spc="200" dirty="0">
                <a:solidFill>
                  <a:srgbClr val="9FB4BD"/>
                </a:solidFill>
                <a:latin typeface="Calibri" pitchFamily="34" charset="0"/>
                <a:ea typeface="Calibri" pitchFamily="34" charset="-122"/>
                <a:cs typeface="Calibri" pitchFamily="34" charset="-120"/>
              </a:rPr>
              <a:t>AI STUDENT IMPACT ANALYSIS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92608"/>
          </a:xfrm>
          <a:prstGeom prst="rect">
            <a:avLst/>
          </a:prstGeom>
          <a:noFill/>
          <a:ln/>
        </p:spPr>
        <p:txBody>
          <a:bodyPr wrap="square" rtlCol="0" anchor="ctr"/>
          <a:lstStyle/>
          <a:p>
            <a:pPr marL="0" indent="0">
              <a:buNone/>
            </a:pPr>
            <a:r>
              <a:rPr lang="en-US" sz="1250" b="1" kern="0" spc="300" dirty="0">
                <a:solidFill>
                  <a:srgbClr val="39FF14"/>
                </a:solidFill>
                <a:latin typeface="Calibri" pitchFamily="34" charset="0"/>
                <a:ea typeface="Calibri" pitchFamily="34" charset="-122"/>
                <a:cs typeface="Calibri" pitchFamily="34" charset="-120"/>
              </a:rPr>
              <a:t>06  ·  UNSUPERVISED LEARNING</a:t>
            </a:r>
            <a:endParaRPr lang="en-US" sz="1250" dirty="0"/>
          </a:p>
        </p:txBody>
      </p:sp>
      <p:sp>
        <p:nvSpPr>
          <p:cNvPr id="3" name="Text 1"/>
          <p:cNvSpPr/>
          <p:nvPr/>
        </p:nvSpPr>
        <p:spPr>
          <a:xfrm>
            <a:off x="502920" y="566928"/>
            <a:ext cx="8138160" cy="566928"/>
          </a:xfrm>
          <a:prstGeom prst="rect">
            <a:avLst/>
          </a:prstGeom>
          <a:noFill/>
          <a:ln/>
        </p:spPr>
        <p:txBody>
          <a:bodyPr wrap="square" rtlCol="0" anchor="ctr"/>
          <a:lstStyle/>
          <a:p>
            <a:pPr marL="0" indent="0">
              <a:buNone/>
            </a:pPr>
            <a:r>
              <a:rPr lang="en-US" sz="3000" b="1" dirty="0">
                <a:solidFill>
                  <a:srgbClr val="F4FBFD"/>
                </a:solidFill>
                <a:latin typeface="Century Schoolbook" pitchFamily="34" charset="0"/>
                <a:ea typeface="Century Schoolbook" pitchFamily="34" charset="-122"/>
                <a:cs typeface="Century Schoolbook" pitchFamily="34" charset="-120"/>
              </a:rPr>
              <a:t>Discovering 8 Distinct Student Personas</a:t>
            </a:r>
            <a:endParaRPr lang="en-US" sz="3000" dirty="0"/>
          </a:p>
        </p:txBody>
      </p:sp>
      <p:sp>
        <p:nvSpPr>
          <p:cNvPr id="4" name="Text 2"/>
          <p:cNvSpPr/>
          <p:nvPr/>
        </p:nvSpPr>
        <p:spPr>
          <a:xfrm>
            <a:off x="502920" y="1207008"/>
            <a:ext cx="8138160" cy="365760"/>
          </a:xfrm>
          <a:prstGeom prst="rect">
            <a:avLst/>
          </a:prstGeom>
          <a:noFill/>
          <a:ln/>
        </p:spPr>
        <p:txBody>
          <a:bodyPr wrap="square" rtlCol="0" anchor="ctr"/>
          <a:lstStyle/>
          <a:p>
            <a:pPr marL="0" indent="0">
              <a:buNone/>
            </a:pPr>
            <a:r>
              <a:rPr lang="en-US" sz="1300" i="1" dirty="0">
                <a:solidFill>
                  <a:srgbClr val="9FB4BD"/>
                </a:solidFill>
                <a:latin typeface="Calibri" pitchFamily="34" charset="0"/>
                <a:ea typeface="Calibri" pitchFamily="34" charset="-122"/>
                <a:cs typeface="Calibri" pitchFamily="34" charset="-120"/>
              </a:rPr>
              <a:t>K-Means clustering segments the student population into behavioral archetypes — no labels required.</a:t>
            </a:r>
            <a:endParaRPr lang="en-US" sz="1300" dirty="0"/>
          </a:p>
        </p:txBody>
      </p:sp>
      <p:sp>
        <p:nvSpPr>
          <p:cNvPr id="5" name="Shape 3"/>
          <p:cNvSpPr/>
          <p:nvPr/>
        </p:nvSpPr>
        <p:spPr>
          <a:xfrm>
            <a:off x="502920" y="1645920"/>
            <a:ext cx="5074920" cy="3063240"/>
          </a:xfrm>
          <a:prstGeom prst="roundRect">
            <a:avLst>
              <a:gd name="adj" fmla="val 3582"/>
            </a:avLst>
          </a:prstGeom>
          <a:solidFill>
            <a:srgbClr val="1B2D36">
              <a:alpha val="72000"/>
            </a:srgbClr>
          </a:solidFill>
          <a:ln w="9525">
            <a:solidFill>
              <a:srgbClr val="00D2FF">
                <a:alpha val="45000"/>
              </a:srgbClr>
            </a:solidFill>
            <a:prstDash val="solid"/>
          </a:ln>
          <a:effectLst>
            <a:outerShdw blurRad="127000" dist="38100" dir="5400000" algn="bl" rotWithShape="0">
              <a:srgbClr val="000000">
                <a:alpha val="35000"/>
              </a:srgbClr>
            </a:outerShdw>
          </a:effectLst>
        </p:spPr>
        <p:txBody>
          <a:bodyPr/>
          <a:lstStyle/>
          <a:p>
            <a:endParaRPr lang="en-US"/>
          </a:p>
        </p:txBody>
      </p:sp>
      <p:sp>
        <p:nvSpPr>
          <p:cNvPr id="6" name="Text 4"/>
          <p:cNvSpPr/>
          <p:nvPr/>
        </p:nvSpPr>
        <p:spPr>
          <a:xfrm>
            <a:off x="731520" y="1755648"/>
            <a:ext cx="4572000" cy="274320"/>
          </a:xfrm>
          <a:prstGeom prst="rect">
            <a:avLst/>
          </a:prstGeom>
          <a:noFill/>
          <a:ln/>
        </p:spPr>
        <p:txBody>
          <a:bodyPr wrap="square" rtlCol="0" anchor="ctr"/>
          <a:lstStyle/>
          <a:p>
            <a:pPr marL="0" indent="0">
              <a:buNone/>
            </a:pPr>
            <a:r>
              <a:rPr lang="en-US" sz="1250" b="1" dirty="0">
                <a:solidFill>
                  <a:srgbClr val="00D2FF"/>
                </a:solidFill>
                <a:latin typeface="Century Schoolbook" pitchFamily="34" charset="0"/>
                <a:ea typeface="Century Schoolbook" pitchFamily="34" charset="-122"/>
                <a:cs typeface="Century Schoolbook" pitchFamily="34" charset="-120"/>
              </a:rPr>
              <a:t>3D PCA Cluster Projection</a:t>
            </a:r>
            <a:endParaRPr lang="en-US" sz="1250" dirty="0"/>
          </a:p>
        </p:txBody>
      </p:sp>
      <p:pic>
        <p:nvPicPr>
          <p:cNvPr id="7" name="Image 0" descr="assets/pca_scatter.png"/>
          <p:cNvPicPr>
            <a:picLocks noChangeAspect="1"/>
          </p:cNvPicPr>
          <p:nvPr/>
        </p:nvPicPr>
        <p:blipFill>
          <a:blip r:embed="rId4"/>
          <a:stretch>
            <a:fillRect/>
          </a:stretch>
        </p:blipFill>
        <p:spPr>
          <a:xfrm>
            <a:off x="502920" y="1965960"/>
            <a:ext cx="5074920" cy="2697480"/>
          </a:xfrm>
          <a:prstGeom prst="rect">
            <a:avLst/>
          </a:prstGeom>
        </p:spPr>
      </p:pic>
      <p:sp>
        <p:nvSpPr>
          <p:cNvPr id="8" name="Shape 5"/>
          <p:cNvSpPr/>
          <p:nvPr/>
        </p:nvSpPr>
        <p:spPr>
          <a:xfrm>
            <a:off x="5715000" y="1645920"/>
            <a:ext cx="2926080" cy="3063240"/>
          </a:xfrm>
          <a:prstGeom prst="roundRect">
            <a:avLst>
              <a:gd name="adj" fmla="val 3750"/>
            </a:avLst>
          </a:prstGeom>
          <a:solidFill>
            <a:srgbClr val="1B2D36">
              <a:alpha val="72000"/>
            </a:srgbClr>
          </a:solidFill>
          <a:ln w="9525">
            <a:solidFill>
              <a:srgbClr val="FF007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9" name="Image 1" descr="preencoded.png"/>
          <p:cNvPicPr>
            <a:picLocks noChangeAspect="1"/>
          </p:cNvPicPr>
          <p:nvPr/>
        </p:nvPicPr>
        <p:blipFill>
          <a:blip r:embed="rId5"/>
          <a:stretch>
            <a:fillRect/>
          </a:stretch>
        </p:blipFill>
        <p:spPr>
          <a:xfrm>
            <a:off x="5943600" y="1828800"/>
            <a:ext cx="384048" cy="384048"/>
          </a:xfrm>
          <a:prstGeom prst="rect">
            <a:avLst/>
          </a:prstGeom>
        </p:spPr>
      </p:pic>
      <p:sp>
        <p:nvSpPr>
          <p:cNvPr id="10" name="Text 6"/>
          <p:cNvSpPr/>
          <p:nvPr/>
        </p:nvSpPr>
        <p:spPr>
          <a:xfrm>
            <a:off x="6400800" y="1856232"/>
            <a:ext cx="2103120" cy="347472"/>
          </a:xfrm>
          <a:prstGeom prst="rect">
            <a:avLst/>
          </a:prstGeom>
          <a:noFill/>
          <a:ln/>
        </p:spPr>
        <p:txBody>
          <a:bodyPr wrap="square" rtlCol="0" anchor="ctr"/>
          <a:lstStyle/>
          <a:p>
            <a:pPr marL="0" indent="0">
              <a:buNone/>
            </a:pPr>
            <a:r>
              <a:rPr lang="en-US" sz="1400" b="1" dirty="0">
                <a:solidFill>
                  <a:srgbClr val="F4FBFD"/>
                </a:solidFill>
                <a:latin typeface="Century Schoolbook" pitchFamily="34" charset="0"/>
                <a:ea typeface="Century Schoolbook" pitchFamily="34" charset="-122"/>
                <a:cs typeface="Century Schoolbook" pitchFamily="34" charset="-120"/>
              </a:rPr>
              <a:t>8 Personas</a:t>
            </a:r>
            <a:endParaRPr lang="en-US" sz="1400" dirty="0"/>
          </a:p>
        </p:txBody>
      </p:sp>
      <p:sp>
        <p:nvSpPr>
          <p:cNvPr id="11" name="Text 7"/>
          <p:cNvSpPr/>
          <p:nvPr/>
        </p:nvSpPr>
        <p:spPr>
          <a:xfrm>
            <a:off x="5943600" y="2331720"/>
            <a:ext cx="2560320" cy="2194560"/>
          </a:xfrm>
          <a:prstGeom prst="rect">
            <a:avLst/>
          </a:prstGeom>
          <a:noFill/>
          <a:ln/>
        </p:spPr>
        <p:txBody>
          <a:bodyPr wrap="square" rtlCol="0" anchor="ctr"/>
          <a:lstStyle/>
          <a:p>
            <a:pPr marL="342900" indent="-342900">
              <a:spcAft>
                <a:spcPts val="900"/>
              </a:spcAft>
              <a:buSzPct val="100000"/>
              <a:buChar char="●"/>
            </a:pPr>
            <a:r>
              <a:rPr lang="en-US" sz="1080" dirty="0">
                <a:solidFill>
                  <a:srgbClr val="00D2FF"/>
                </a:solidFill>
                <a:latin typeface="Calibri" pitchFamily="34" charset="0"/>
                <a:ea typeface="Calibri" pitchFamily="34" charset="-122"/>
                <a:cs typeface="Calibri" pitchFamily="34" charset="-120"/>
              </a:rPr>
              <a:t>AI Pioneers</a:t>
            </a:r>
            <a:endParaRPr lang="en-US" sz="1080" dirty="0"/>
          </a:p>
          <a:p>
            <a:pPr marL="342900" indent="-342900">
              <a:spcAft>
                <a:spcPts val="900"/>
              </a:spcAft>
              <a:buSzPct val="100000"/>
              <a:buChar char="●"/>
            </a:pPr>
            <a:r>
              <a:rPr lang="en-US" sz="1080" dirty="0">
                <a:solidFill>
                  <a:srgbClr val="39FF14"/>
                </a:solidFill>
                <a:latin typeface="Calibri" pitchFamily="34" charset="0"/>
                <a:ea typeface="Calibri" pitchFamily="34" charset="-122"/>
                <a:cs typeface="Calibri" pitchFamily="34" charset="-120"/>
              </a:rPr>
              <a:t>Traditional Scholars</a:t>
            </a:r>
            <a:endParaRPr lang="en-US" sz="1080" dirty="0"/>
          </a:p>
          <a:p>
            <a:pPr marL="342900" indent="-342900">
              <a:spcAft>
                <a:spcPts val="900"/>
              </a:spcAft>
              <a:buSzPct val="100000"/>
              <a:buChar char="●"/>
            </a:pPr>
            <a:r>
              <a:rPr lang="en-US" sz="1080" dirty="0">
                <a:solidFill>
                  <a:srgbClr val="FF007F"/>
                </a:solidFill>
                <a:latin typeface="Calibri" pitchFamily="34" charset="0"/>
                <a:ea typeface="Calibri" pitchFamily="34" charset="-122"/>
                <a:cs typeface="Calibri" pitchFamily="34" charset="-120"/>
              </a:rPr>
              <a:t>Hyper-dependent</a:t>
            </a:r>
            <a:endParaRPr lang="en-US" sz="1080" dirty="0"/>
          </a:p>
          <a:p>
            <a:pPr marL="342900" indent="-342900">
              <a:spcAft>
                <a:spcPts val="900"/>
              </a:spcAft>
              <a:buSzPct val="100000"/>
              <a:buChar char="●"/>
            </a:pPr>
            <a:r>
              <a:rPr lang="en-US" sz="1080" dirty="0">
                <a:solidFill>
                  <a:srgbClr val="7CFFCB"/>
                </a:solidFill>
                <a:latin typeface="Calibri" pitchFamily="34" charset="0"/>
                <a:ea typeface="Calibri" pitchFamily="34" charset="-122"/>
                <a:cs typeface="Calibri" pitchFamily="34" charset="-120"/>
              </a:rPr>
              <a:t>Balanced Achievers</a:t>
            </a:r>
            <a:endParaRPr lang="en-US" sz="1080" dirty="0"/>
          </a:p>
          <a:p>
            <a:pPr marL="342900" indent="-342900">
              <a:spcAft>
                <a:spcPts val="900"/>
              </a:spcAft>
              <a:buSzPct val="100000"/>
              <a:buChar char="●"/>
            </a:pPr>
            <a:r>
              <a:rPr lang="en-US" sz="1080" dirty="0">
                <a:solidFill>
                  <a:srgbClr val="FF6EC7"/>
                </a:solidFill>
                <a:latin typeface="Calibri" pitchFamily="34" charset="0"/>
                <a:ea typeface="Calibri" pitchFamily="34" charset="-122"/>
                <a:cs typeface="Calibri" pitchFamily="34" charset="-120"/>
              </a:rPr>
              <a:t>Anxious Overachievers</a:t>
            </a:r>
            <a:endParaRPr lang="en-US" sz="1080" dirty="0"/>
          </a:p>
          <a:p>
            <a:pPr marL="342900" indent="-342900">
              <a:spcAft>
                <a:spcPts val="900"/>
              </a:spcAft>
              <a:buSzPct val="100000"/>
              <a:buChar char="●"/>
            </a:pPr>
            <a:r>
              <a:rPr lang="en-US" sz="1080" dirty="0">
                <a:solidFill>
                  <a:srgbClr val="5B8DEF"/>
                </a:solidFill>
                <a:latin typeface="Calibri" pitchFamily="34" charset="0"/>
                <a:ea typeface="Calibri" pitchFamily="34" charset="-122"/>
                <a:cs typeface="Calibri" pitchFamily="34" charset="-120"/>
              </a:rPr>
              <a:t>Disengaged Drifters</a:t>
            </a:r>
            <a:endParaRPr lang="en-US" sz="1080" dirty="0"/>
          </a:p>
        </p:txBody>
      </p:sp>
      <p:sp>
        <p:nvSpPr>
          <p:cNvPr id="12" name="Text 8"/>
          <p:cNvSpPr/>
          <p:nvPr/>
        </p:nvSpPr>
        <p:spPr>
          <a:xfrm>
            <a:off x="5943600" y="4315968"/>
            <a:ext cx="2286000" cy="228600"/>
          </a:xfrm>
          <a:prstGeom prst="rect">
            <a:avLst/>
          </a:prstGeom>
          <a:noFill/>
          <a:ln/>
        </p:spPr>
        <p:txBody>
          <a:bodyPr wrap="square" rtlCol="0" anchor="ctr"/>
          <a:lstStyle/>
          <a:p>
            <a:pPr marL="0" indent="0">
              <a:buNone/>
            </a:pPr>
            <a:r>
              <a:rPr lang="en-US" sz="900" i="1" dirty="0">
                <a:solidFill>
                  <a:srgbClr val="9FB4BD"/>
                </a:solidFill>
                <a:latin typeface="Calibri" pitchFamily="34" charset="0"/>
                <a:ea typeface="Calibri" pitchFamily="34" charset="-122"/>
                <a:cs typeface="Calibri" pitchFamily="34" charset="-120"/>
              </a:rPr>
              <a:t>+2 more</a:t>
            </a:r>
            <a:endParaRPr lang="en-US" sz="900" dirty="0"/>
          </a:p>
        </p:txBody>
      </p:sp>
      <p:sp>
        <p:nvSpPr>
          <p:cNvPr id="13" name="Text 9"/>
          <p:cNvSpPr/>
          <p:nvPr/>
        </p:nvSpPr>
        <p:spPr>
          <a:xfrm>
            <a:off x="7955280" y="4864608"/>
            <a:ext cx="1005840" cy="228600"/>
          </a:xfrm>
          <a:prstGeom prst="rect">
            <a:avLst/>
          </a:prstGeom>
          <a:noFill/>
          <a:ln/>
        </p:spPr>
        <p:txBody>
          <a:bodyPr wrap="square" rtlCol="0" anchor="ctr"/>
          <a:lstStyle/>
          <a:p>
            <a:pPr marL="0" indent="0" algn="r">
              <a:buNone/>
            </a:pPr>
            <a:r>
              <a:rPr lang="en-US" sz="900" dirty="0">
                <a:solidFill>
                  <a:srgbClr val="9FB4BD"/>
                </a:solidFill>
                <a:latin typeface="Calibri" pitchFamily="34" charset="0"/>
                <a:ea typeface="Calibri" pitchFamily="34" charset="-122"/>
                <a:cs typeface="Calibri" pitchFamily="34" charset="-120"/>
              </a:rPr>
              <a:t>07 / 10</a:t>
            </a:r>
            <a:endParaRPr lang="en-US" sz="900" dirty="0"/>
          </a:p>
        </p:txBody>
      </p:sp>
      <p:sp>
        <p:nvSpPr>
          <p:cNvPr id="14" name="Text 10"/>
          <p:cNvSpPr/>
          <p:nvPr/>
        </p:nvSpPr>
        <p:spPr>
          <a:xfrm>
            <a:off x="457200" y="4864608"/>
            <a:ext cx="4572000" cy="228600"/>
          </a:xfrm>
          <a:prstGeom prst="rect">
            <a:avLst/>
          </a:prstGeom>
          <a:noFill/>
          <a:ln/>
        </p:spPr>
        <p:txBody>
          <a:bodyPr wrap="square" rtlCol="0" anchor="ctr"/>
          <a:lstStyle/>
          <a:p>
            <a:pPr marL="0" indent="0">
              <a:buNone/>
            </a:pPr>
            <a:r>
              <a:rPr lang="en-US" sz="900" kern="0" spc="200" dirty="0">
                <a:solidFill>
                  <a:srgbClr val="9FB4BD"/>
                </a:solidFill>
                <a:latin typeface="Calibri" pitchFamily="34" charset="0"/>
                <a:ea typeface="Calibri" pitchFamily="34" charset="-122"/>
                <a:cs typeface="Calibri" pitchFamily="34" charset="-120"/>
              </a:rPr>
              <a:t>AI STUDENT IMPACT ANALYSIS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92608"/>
          </a:xfrm>
          <a:prstGeom prst="rect">
            <a:avLst/>
          </a:prstGeom>
          <a:noFill/>
          <a:ln/>
        </p:spPr>
        <p:txBody>
          <a:bodyPr wrap="square" rtlCol="0" anchor="ctr"/>
          <a:lstStyle/>
          <a:p>
            <a:pPr marL="0" indent="0">
              <a:buNone/>
            </a:pPr>
            <a:r>
              <a:rPr lang="en-US" sz="1250" b="1" kern="0" spc="300" dirty="0">
                <a:solidFill>
                  <a:srgbClr val="00D2FF"/>
                </a:solidFill>
                <a:latin typeface="Calibri" pitchFamily="34" charset="0"/>
                <a:ea typeface="Calibri" pitchFamily="34" charset="-122"/>
                <a:cs typeface="Calibri" pitchFamily="34" charset="-120"/>
              </a:rPr>
              <a:t>07  ·  THE DASHBOARD SOLUTION</a:t>
            </a:r>
            <a:endParaRPr lang="en-US" sz="1250" dirty="0"/>
          </a:p>
        </p:txBody>
      </p:sp>
      <p:sp>
        <p:nvSpPr>
          <p:cNvPr id="3" name="Text 1"/>
          <p:cNvSpPr/>
          <p:nvPr/>
        </p:nvSpPr>
        <p:spPr>
          <a:xfrm>
            <a:off x="502920" y="566928"/>
            <a:ext cx="8138160" cy="566928"/>
          </a:xfrm>
          <a:prstGeom prst="rect">
            <a:avLst/>
          </a:prstGeom>
          <a:noFill/>
          <a:ln/>
        </p:spPr>
        <p:txBody>
          <a:bodyPr wrap="square" rtlCol="0" anchor="ctr"/>
          <a:lstStyle/>
          <a:p>
            <a:pPr marL="0" indent="0">
              <a:buNone/>
            </a:pPr>
            <a:r>
              <a:rPr lang="en-US" sz="3000" b="1" dirty="0">
                <a:solidFill>
                  <a:srgbClr val="F4FBFD"/>
                </a:solidFill>
                <a:latin typeface="Century Schoolbook" pitchFamily="34" charset="0"/>
                <a:ea typeface="Century Schoolbook" pitchFamily="34" charset="-122"/>
                <a:cs typeface="Century Schoolbook" pitchFamily="34" charset="-120"/>
              </a:rPr>
              <a:t>From Models to a Living, Interactive Product</a:t>
            </a:r>
            <a:endParaRPr lang="en-US" sz="3000" dirty="0"/>
          </a:p>
        </p:txBody>
      </p:sp>
      <p:sp>
        <p:nvSpPr>
          <p:cNvPr id="4" name="Shape 2"/>
          <p:cNvSpPr/>
          <p:nvPr/>
        </p:nvSpPr>
        <p:spPr>
          <a:xfrm>
            <a:off x="502920" y="1234440"/>
            <a:ext cx="3200400" cy="3429000"/>
          </a:xfrm>
          <a:prstGeom prst="roundRect">
            <a:avLst>
              <a:gd name="adj" fmla="val 3429"/>
            </a:avLst>
          </a:prstGeom>
          <a:solidFill>
            <a:srgbClr val="1B2D36">
              <a:alpha val="72000"/>
            </a:srgbClr>
          </a:solidFill>
          <a:ln w="9525">
            <a:solidFill>
              <a:srgbClr val="00D2F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5" name="Image 0" descr="preencoded.png"/>
          <p:cNvPicPr>
            <a:picLocks noChangeAspect="1"/>
          </p:cNvPicPr>
          <p:nvPr/>
        </p:nvPicPr>
        <p:blipFill>
          <a:blip r:embed="rId4"/>
          <a:stretch>
            <a:fillRect/>
          </a:stretch>
        </p:blipFill>
        <p:spPr>
          <a:xfrm>
            <a:off x="731520" y="1463040"/>
            <a:ext cx="502920" cy="502920"/>
          </a:xfrm>
          <a:prstGeom prst="rect">
            <a:avLst/>
          </a:prstGeom>
        </p:spPr>
      </p:pic>
      <p:sp>
        <p:nvSpPr>
          <p:cNvPr id="6" name="Text 3"/>
          <p:cNvSpPr/>
          <p:nvPr/>
        </p:nvSpPr>
        <p:spPr>
          <a:xfrm>
            <a:off x="777240" y="2057400"/>
            <a:ext cx="2788920" cy="365760"/>
          </a:xfrm>
          <a:prstGeom prst="rect">
            <a:avLst/>
          </a:prstGeom>
          <a:noFill/>
          <a:ln/>
        </p:spPr>
        <p:txBody>
          <a:bodyPr wrap="square" rtlCol="0" anchor="ctr"/>
          <a:lstStyle/>
          <a:p>
            <a:pPr marL="0" indent="0">
              <a:buNone/>
            </a:pPr>
            <a:r>
              <a:rPr lang="en-US" sz="1500" b="1" dirty="0">
                <a:solidFill>
                  <a:srgbClr val="F4FBFD"/>
                </a:solidFill>
                <a:latin typeface="Century Schoolbook" pitchFamily="34" charset="0"/>
                <a:ea typeface="Century Schoolbook" pitchFamily="34" charset="-122"/>
                <a:cs typeface="Century Schoolbook" pitchFamily="34" charset="-120"/>
              </a:rPr>
              <a:t>Streamlit Web App</a:t>
            </a:r>
            <a:endParaRPr lang="en-US" sz="1500" dirty="0"/>
          </a:p>
        </p:txBody>
      </p:sp>
      <p:sp>
        <p:nvSpPr>
          <p:cNvPr id="7" name="Text 4"/>
          <p:cNvSpPr/>
          <p:nvPr/>
        </p:nvSpPr>
        <p:spPr>
          <a:xfrm>
            <a:off x="777240" y="2468880"/>
            <a:ext cx="2788920" cy="1051560"/>
          </a:xfrm>
          <a:prstGeom prst="rect">
            <a:avLst/>
          </a:prstGeom>
          <a:noFill/>
          <a:ln/>
        </p:spPr>
        <p:txBody>
          <a:bodyPr wrap="square" rtlCol="0" anchor="ctr"/>
          <a:lstStyle/>
          <a:p>
            <a:pPr marL="0" indent="0">
              <a:lnSpc>
                <a:spcPct val="120000"/>
              </a:lnSpc>
              <a:buNone/>
            </a:pPr>
            <a:r>
              <a:rPr lang="en-US" sz="1150" dirty="0">
                <a:solidFill>
                  <a:srgbClr val="9FB4BD"/>
                </a:solidFill>
                <a:latin typeface="Calibri" pitchFamily="34" charset="0"/>
                <a:ea typeface="Calibri" pitchFamily="34" charset="-122"/>
                <a:cs typeface="Calibri" pitchFamily="34" charset="-120"/>
              </a:rPr>
              <a:t>A fully interactive, responsive application putting every model from this deck into the hands of students, advisors, and administrators.</a:t>
            </a:r>
            <a:endParaRPr lang="en-US" sz="1150" dirty="0"/>
          </a:p>
        </p:txBody>
      </p:sp>
      <p:sp>
        <p:nvSpPr>
          <p:cNvPr id="8" name="Text 5"/>
          <p:cNvSpPr/>
          <p:nvPr/>
        </p:nvSpPr>
        <p:spPr>
          <a:xfrm>
            <a:off x="777240" y="3429000"/>
            <a:ext cx="2743200" cy="1097280"/>
          </a:xfrm>
          <a:prstGeom prst="rect">
            <a:avLst/>
          </a:prstGeom>
          <a:noFill/>
          <a:ln/>
        </p:spPr>
        <p:txBody>
          <a:bodyPr wrap="square" rtlCol="0" anchor="ctr"/>
          <a:lstStyle/>
          <a:p>
            <a:pPr marL="342900" indent="-342900">
              <a:spcAft>
                <a:spcPts val="500"/>
              </a:spcAft>
              <a:buSzPct val="100000"/>
              <a:buChar char="●"/>
            </a:pPr>
            <a:r>
              <a:rPr lang="en-US" sz="1030" dirty="0">
                <a:solidFill>
                  <a:srgbClr val="39FF14"/>
                </a:solidFill>
                <a:latin typeface="Calibri" pitchFamily="34" charset="0"/>
                <a:ea typeface="Calibri" pitchFamily="34" charset="-122"/>
                <a:cs typeface="Calibri" pitchFamily="34" charset="-120"/>
              </a:rPr>
              <a:t>Glassmorphism glowing cards</a:t>
            </a:r>
            <a:endParaRPr lang="en-US" sz="1030" dirty="0"/>
          </a:p>
          <a:p>
            <a:pPr marL="342900" indent="-342900">
              <a:spcAft>
                <a:spcPts val="500"/>
              </a:spcAft>
              <a:buSzPct val="100000"/>
              <a:buChar char="●"/>
            </a:pPr>
            <a:r>
              <a:rPr lang="en-US" sz="1030" dirty="0">
                <a:solidFill>
                  <a:srgbClr val="39FF14"/>
                </a:solidFill>
                <a:latin typeface="Calibri" pitchFamily="34" charset="0"/>
                <a:ea typeface="Calibri" pitchFamily="34" charset="-122"/>
                <a:cs typeface="Calibri" pitchFamily="34" charset="-120"/>
              </a:rPr>
              <a:t>Real-time prediction forms</a:t>
            </a:r>
            <a:endParaRPr lang="en-US" sz="1030" dirty="0"/>
          </a:p>
          <a:p>
            <a:pPr marL="342900" indent="-342900">
              <a:spcAft>
                <a:spcPts val="500"/>
              </a:spcAft>
              <a:buSzPct val="100000"/>
              <a:buChar char="●"/>
            </a:pPr>
            <a:r>
              <a:rPr lang="en-US" sz="1030" dirty="0">
                <a:solidFill>
                  <a:srgbClr val="39FF14"/>
                </a:solidFill>
                <a:latin typeface="Calibri" pitchFamily="34" charset="0"/>
                <a:ea typeface="Calibri" pitchFamily="34" charset="-122"/>
                <a:cs typeface="Calibri" pitchFamily="34" charset="-120"/>
              </a:rPr>
              <a:t>Dynamic data filtering</a:t>
            </a:r>
            <a:endParaRPr lang="en-US" sz="1030" dirty="0"/>
          </a:p>
        </p:txBody>
      </p:sp>
      <p:sp>
        <p:nvSpPr>
          <p:cNvPr id="9" name="Shape 6"/>
          <p:cNvSpPr/>
          <p:nvPr/>
        </p:nvSpPr>
        <p:spPr>
          <a:xfrm>
            <a:off x="3931920" y="1234440"/>
            <a:ext cx="4709160" cy="3429000"/>
          </a:xfrm>
          <a:prstGeom prst="roundRect">
            <a:avLst>
              <a:gd name="adj" fmla="val 3200"/>
            </a:avLst>
          </a:prstGeom>
          <a:solidFill>
            <a:srgbClr val="0C1418">
              <a:alpha val="92000"/>
            </a:srgbClr>
          </a:solidFill>
          <a:ln w="9525">
            <a:solidFill>
              <a:srgbClr val="FF007F">
                <a:alpha val="45000"/>
              </a:srgbClr>
            </a:solidFill>
            <a:prstDash val="solid"/>
          </a:ln>
          <a:effectLst>
            <a:outerShdw blurRad="127000" dist="38100" dir="5400000" algn="bl" rotWithShape="0">
              <a:srgbClr val="000000">
                <a:alpha val="35000"/>
              </a:srgbClr>
            </a:outerShdw>
          </a:effectLst>
        </p:spPr>
        <p:txBody>
          <a:bodyPr/>
          <a:lstStyle/>
          <a:p>
            <a:endParaRPr lang="en-US"/>
          </a:p>
        </p:txBody>
      </p:sp>
      <p:sp>
        <p:nvSpPr>
          <p:cNvPr id="10" name="Text 7"/>
          <p:cNvSpPr/>
          <p:nvPr/>
        </p:nvSpPr>
        <p:spPr>
          <a:xfrm>
            <a:off x="4114800" y="1371600"/>
            <a:ext cx="914400" cy="228600"/>
          </a:xfrm>
          <a:prstGeom prst="rect">
            <a:avLst/>
          </a:prstGeom>
          <a:noFill/>
          <a:ln/>
        </p:spPr>
        <p:txBody>
          <a:bodyPr wrap="square" rtlCol="0" anchor="ctr"/>
          <a:lstStyle/>
          <a:p>
            <a:pPr marL="0" indent="0">
              <a:buNone/>
            </a:pPr>
            <a:r>
              <a:rPr lang="en-US" sz="900" dirty="0">
                <a:solidFill>
                  <a:srgbClr val="9FB4BD"/>
                </a:solidFill>
              </a:rPr>
              <a:t>● ● ●</a:t>
            </a:r>
            <a:endParaRPr lang="en-US" sz="900" dirty="0"/>
          </a:p>
        </p:txBody>
      </p:sp>
      <p:sp>
        <p:nvSpPr>
          <p:cNvPr id="11" name="Shape 8"/>
          <p:cNvSpPr/>
          <p:nvPr/>
        </p:nvSpPr>
        <p:spPr>
          <a:xfrm>
            <a:off x="4114800" y="1691640"/>
            <a:ext cx="4343400" cy="2788920"/>
          </a:xfrm>
          <a:prstGeom prst="roundRect">
            <a:avLst>
              <a:gd name="adj" fmla="val 2623"/>
            </a:avLst>
          </a:prstGeom>
          <a:solidFill>
            <a:srgbClr val="0B171C">
              <a:alpha val="95000"/>
            </a:srgbClr>
          </a:solidFill>
          <a:ln w="6350">
            <a:solidFill>
              <a:srgbClr val="00D2FF">
                <a:alpha val="40000"/>
              </a:srgbClr>
            </a:solidFill>
            <a:prstDash val="solid"/>
          </a:ln>
        </p:spPr>
        <p:txBody>
          <a:bodyPr/>
          <a:lstStyle/>
          <a:p>
            <a:endParaRPr lang="en-US"/>
          </a:p>
        </p:txBody>
      </p:sp>
      <p:sp>
        <p:nvSpPr>
          <p:cNvPr id="12" name="Shape 9"/>
          <p:cNvSpPr/>
          <p:nvPr/>
        </p:nvSpPr>
        <p:spPr>
          <a:xfrm>
            <a:off x="4279392" y="1874520"/>
            <a:ext cx="1280160" cy="868680"/>
          </a:xfrm>
          <a:prstGeom prst="roundRect">
            <a:avLst>
              <a:gd name="adj" fmla="val 8421"/>
            </a:avLst>
          </a:prstGeom>
          <a:solidFill>
            <a:srgbClr val="13232A">
              <a:alpha val="85000"/>
            </a:srgbClr>
          </a:solidFill>
          <a:ln w="9525">
            <a:solidFill>
              <a:srgbClr val="00D2FF">
                <a:alpha val="60000"/>
              </a:srgbClr>
            </a:solidFill>
            <a:prstDash val="solid"/>
          </a:ln>
        </p:spPr>
        <p:txBody>
          <a:bodyPr/>
          <a:lstStyle/>
          <a:p>
            <a:endParaRPr lang="en-US"/>
          </a:p>
        </p:txBody>
      </p:sp>
      <p:sp>
        <p:nvSpPr>
          <p:cNvPr id="13" name="Text 10"/>
          <p:cNvSpPr/>
          <p:nvPr/>
        </p:nvSpPr>
        <p:spPr>
          <a:xfrm>
            <a:off x="4279392" y="1956816"/>
            <a:ext cx="1280160" cy="411480"/>
          </a:xfrm>
          <a:prstGeom prst="rect">
            <a:avLst/>
          </a:prstGeom>
          <a:noFill/>
          <a:ln/>
        </p:spPr>
        <p:txBody>
          <a:bodyPr wrap="square" rtlCol="0" anchor="ctr"/>
          <a:lstStyle/>
          <a:p>
            <a:pPr marL="0" indent="0" algn="ctr">
              <a:buNone/>
            </a:pPr>
            <a:r>
              <a:rPr lang="en-US" sz="1700" b="1" dirty="0">
                <a:solidFill>
                  <a:srgbClr val="00D2FF"/>
                </a:solidFill>
                <a:latin typeface="Century Schoolbook" pitchFamily="34" charset="0"/>
                <a:ea typeface="Century Schoolbook" pitchFamily="34" charset="-122"/>
                <a:cs typeface="Century Schoolbook" pitchFamily="34" charset="-120"/>
              </a:rPr>
              <a:t>3.24</a:t>
            </a:r>
            <a:endParaRPr lang="en-US" sz="1700" dirty="0"/>
          </a:p>
        </p:txBody>
      </p:sp>
      <p:sp>
        <p:nvSpPr>
          <p:cNvPr id="14" name="Text 11"/>
          <p:cNvSpPr/>
          <p:nvPr/>
        </p:nvSpPr>
        <p:spPr>
          <a:xfrm>
            <a:off x="4279392" y="2359152"/>
            <a:ext cx="1280160" cy="274320"/>
          </a:xfrm>
          <a:prstGeom prst="rect">
            <a:avLst/>
          </a:prstGeom>
          <a:noFill/>
          <a:ln/>
        </p:spPr>
        <p:txBody>
          <a:bodyPr wrap="square" rtlCol="0" anchor="ctr"/>
          <a:lstStyle/>
          <a:p>
            <a:pPr marL="0" indent="0" algn="ctr">
              <a:buNone/>
            </a:pPr>
            <a:r>
              <a:rPr lang="en-US" sz="760" kern="0" spc="100" dirty="0">
                <a:solidFill>
                  <a:srgbClr val="9FB4BD"/>
                </a:solidFill>
                <a:latin typeface="Calibri" pitchFamily="34" charset="0"/>
                <a:ea typeface="Calibri" pitchFamily="34" charset="-122"/>
                <a:cs typeface="Calibri" pitchFamily="34" charset="-120"/>
              </a:rPr>
              <a:t>AVG GPA</a:t>
            </a:r>
            <a:endParaRPr lang="en-US" sz="760" dirty="0"/>
          </a:p>
        </p:txBody>
      </p:sp>
      <p:sp>
        <p:nvSpPr>
          <p:cNvPr id="15" name="Shape 12"/>
          <p:cNvSpPr/>
          <p:nvPr/>
        </p:nvSpPr>
        <p:spPr>
          <a:xfrm>
            <a:off x="5696712" y="1874520"/>
            <a:ext cx="1280160" cy="868680"/>
          </a:xfrm>
          <a:prstGeom prst="roundRect">
            <a:avLst>
              <a:gd name="adj" fmla="val 8421"/>
            </a:avLst>
          </a:prstGeom>
          <a:solidFill>
            <a:srgbClr val="13232A">
              <a:alpha val="85000"/>
            </a:srgbClr>
          </a:solidFill>
          <a:ln w="9525">
            <a:solidFill>
              <a:srgbClr val="FF007F">
                <a:alpha val="60000"/>
              </a:srgbClr>
            </a:solidFill>
            <a:prstDash val="solid"/>
          </a:ln>
        </p:spPr>
        <p:txBody>
          <a:bodyPr/>
          <a:lstStyle/>
          <a:p>
            <a:endParaRPr lang="en-US"/>
          </a:p>
        </p:txBody>
      </p:sp>
      <p:sp>
        <p:nvSpPr>
          <p:cNvPr id="16" name="Text 13"/>
          <p:cNvSpPr/>
          <p:nvPr/>
        </p:nvSpPr>
        <p:spPr>
          <a:xfrm>
            <a:off x="5696712" y="1956816"/>
            <a:ext cx="1280160" cy="411480"/>
          </a:xfrm>
          <a:prstGeom prst="rect">
            <a:avLst/>
          </a:prstGeom>
          <a:noFill/>
          <a:ln/>
        </p:spPr>
        <p:txBody>
          <a:bodyPr wrap="square" rtlCol="0" anchor="ctr"/>
          <a:lstStyle/>
          <a:p>
            <a:pPr marL="0" indent="0" algn="ctr">
              <a:buNone/>
            </a:pPr>
            <a:r>
              <a:rPr lang="en-US" sz="1700" b="1" dirty="0">
                <a:solidFill>
                  <a:srgbClr val="FF007F"/>
                </a:solidFill>
                <a:latin typeface="Century Schoolbook" pitchFamily="34" charset="0"/>
                <a:ea typeface="Century Schoolbook" pitchFamily="34" charset="-122"/>
                <a:cs typeface="Century Schoolbook" pitchFamily="34" charset="-120"/>
              </a:rPr>
              <a:t>19%</a:t>
            </a:r>
            <a:endParaRPr lang="en-US" sz="1700" dirty="0"/>
          </a:p>
        </p:txBody>
      </p:sp>
      <p:sp>
        <p:nvSpPr>
          <p:cNvPr id="17" name="Text 14"/>
          <p:cNvSpPr/>
          <p:nvPr/>
        </p:nvSpPr>
        <p:spPr>
          <a:xfrm>
            <a:off x="5696712" y="2359152"/>
            <a:ext cx="1280160" cy="274320"/>
          </a:xfrm>
          <a:prstGeom prst="rect">
            <a:avLst/>
          </a:prstGeom>
          <a:noFill/>
          <a:ln/>
        </p:spPr>
        <p:txBody>
          <a:bodyPr wrap="square" rtlCol="0" anchor="ctr"/>
          <a:lstStyle/>
          <a:p>
            <a:pPr marL="0" indent="0" algn="ctr">
              <a:buNone/>
            </a:pPr>
            <a:r>
              <a:rPr lang="en-US" sz="760" kern="0" spc="100" dirty="0">
                <a:solidFill>
                  <a:srgbClr val="9FB4BD"/>
                </a:solidFill>
                <a:latin typeface="Calibri" pitchFamily="34" charset="0"/>
                <a:ea typeface="Calibri" pitchFamily="34" charset="-122"/>
                <a:cs typeface="Calibri" pitchFamily="34" charset="-120"/>
              </a:rPr>
              <a:t>HIGH RISK</a:t>
            </a:r>
            <a:endParaRPr lang="en-US" sz="760" dirty="0"/>
          </a:p>
        </p:txBody>
      </p:sp>
      <p:sp>
        <p:nvSpPr>
          <p:cNvPr id="18" name="Shape 15"/>
          <p:cNvSpPr/>
          <p:nvPr/>
        </p:nvSpPr>
        <p:spPr>
          <a:xfrm>
            <a:off x="7114032" y="1874520"/>
            <a:ext cx="1280160" cy="868680"/>
          </a:xfrm>
          <a:prstGeom prst="roundRect">
            <a:avLst>
              <a:gd name="adj" fmla="val 8421"/>
            </a:avLst>
          </a:prstGeom>
          <a:solidFill>
            <a:srgbClr val="13232A">
              <a:alpha val="85000"/>
            </a:srgbClr>
          </a:solidFill>
          <a:ln w="9525">
            <a:solidFill>
              <a:srgbClr val="39FF14">
                <a:alpha val="60000"/>
              </a:srgbClr>
            </a:solidFill>
            <a:prstDash val="solid"/>
          </a:ln>
        </p:spPr>
        <p:txBody>
          <a:bodyPr/>
          <a:lstStyle/>
          <a:p>
            <a:endParaRPr lang="en-US"/>
          </a:p>
        </p:txBody>
      </p:sp>
      <p:sp>
        <p:nvSpPr>
          <p:cNvPr id="19" name="Text 16"/>
          <p:cNvSpPr/>
          <p:nvPr/>
        </p:nvSpPr>
        <p:spPr>
          <a:xfrm>
            <a:off x="7114032" y="1956816"/>
            <a:ext cx="1280160" cy="411480"/>
          </a:xfrm>
          <a:prstGeom prst="rect">
            <a:avLst/>
          </a:prstGeom>
          <a:noFill/>
          <a:ln/>
        </p:spPr>
        <p:txBody>
          <a:bodyPr wrap="square" rtlCol="0" anchor="ctr"/>
          <a:lstStyle/>
          <a:p>
            <a:pPr marL="0" indent="0" algn="ctr">
              <a:buNone/>
            </a:pPr>
            <a:r>
              <a:rPr lang="en-US" sz="1700" b="1" dirty="0">
                <a:solidFill>
                  <a:srgbClr val="39FF14"/>
                </a:solidFill>
                <a:latin typeface="Century Schoolbook" pitchFamily="34" charset="0"/>
                <a:ea typeface="Century Schoolbook" pitchFamily="34" charset="-122"/>
                <a:cs typeface="Century Schoolbook" pitchFamily="34" charset="-120"/>
              </a:rPr>
              <a:t>0.58</a:t>
            </a:r>
            <a:endParaRPr lang="en-US" sz="1700" dirty="0"/>
          </a:p>
        </p:txBody>
      </p:sp>
      <p:sp>
        <p:nvSpPr>
          <p:cNvPr id="20" name="Text 17"/>
          <p:cNvSpPr/>
          <p:nvPr/>
        </p:nvSpPr>
        <p:spPr>
          <a:xfrm>
            <a:off x="7114032" y="2359152"/>
            <a:ext cx="1280160" cy="274320"/>
          </a:xfrm>
          <a:prstGeom prst="rect">
            <a:avLst/>
          </a:prstGeom>
          <a:noFill/>
          <a:ln/>
        </p:spPr>
        <p:txBody>
          <a:bodyPr wrap="square" rtlCol="0" anchor="ctr"/>
          <a:lstStyle/>
          <a:p>
            <a:pPr marL="0" indent="0" algn="ctr">
              <a:buNone/>
            </a:pPr>
            <a:r>
              <a:rPr lang="en-US" sz="760" kern="0" spc="100" dirty="0">
                <a:solidFill>
                  <a:srgbClr val="9FB4BD"/>
                </a:solidFill>
                <a:latin typeface="Calibri" pitchFamily="34" charset="0"/>
                <a:ea typeface="Calibri" pitchFamily="34" charset="-122"/>
                <a:cs typeface="Calibri" pitchFamily="34" charset="-120"/>
              </a:rPr>
              <a:t>AI RATIO</a:t>
            </a:r>
            <a:endParaRPr lang="en-US" sz="760" dirty="0"/>
          </a:p>
        </p:txBody>
      </p:sp>
      <p:sp>
        <p:nvSpPr>
          <p:cNvPr id="21" name="Shape 18"/>
          <p:cNvSpPr/>
          <p:nvPr/>
        </p:nvSpPr>
        <p:spPr>
          <a:xfrm>
            <a:off x="4279392" y="2926080"/>
            <a:ext cx="3977640" cy="1417320"/>
          </a:xfrm>
          <a:prstGeom prst="rect">
            <a:avLst/>
          </a:prstGeom>
          <a:solidFill>
            <a:srgbClr val="0E1B21">
              <a:alpha val="80000"/>
            </a:srgbClr>
          </a:solidFill>
          <a:ln w="6350">
            <a:solidFill>
              <a:srgbClr val="00D2FF">
                <a:alpha val="35000"/>
              </a:srgbClr>
            </a:solidFill>
            <a:prstDash val="solid"/>
          </a:ln>
        </p:spPr>
        <p:txBody>
          <a:bodyPr/>
          <a:lstStyle/>
          <a:p>
            <a:endParaRPr lang="en-US"/>
          </a:p>
        </p:txBody>
      </p:sp>
      <p:sp>
        <p:nvSpPr>
          <p:cNvPr id="22" name="Shape 19"/>
          <p:cNvSpPr/>
          <p:nvPr/>
        </p:nvSpPr>
        <p:spPr>
          <a:xfrm>
            <a:off x="4279392" y="3493008"/>
            <a:ext cx="568234" cy="425196"/>
          </a:xfrm>
          <a:prstGeom prst="line">
            <a:avLst/>
          </a:prstGeom>
          <a:noFill/>
          <a:ln w="25400">
            <a:solidFill>
              <a:srgbClr val="39FF14"/>
            </a:solidFill>
            <a:prstDash val="solid"/>
          </a:ln>
        </p:spPr>
        <p:txBody>
          <a:bodyPr/>
          <a:lstStyle/>
          <a:p>
            <a:endParaRPr lang="en-US"/>
          </a:p>
        </p:txBody>
      </p:sp>
      <p:sp>
        <p:nvSpPr>
          <p:cNvPr id="23" name="Shape 20"/>
          <p:cNvSpPr/>
          <p:nvPr/>
        </p:nvSpPr>
        <p:spPr>
          <a:xfrm>
            <a:off x="4847626" y="3493008"/>
            <a:ext cx="568234" cy="283464"/>
          </a:xfrm>
          <a:prstGeom prst="line">
            <a:avLst/>
          </a:prstGeom>
          <a:noFill/>
          <a:ln w="25400">
            <a:solidFill>
              <a:srgbClr val="39FF14"/>
            </a:solidFill>
            <a:prstDash val="solid"/>
          </a:ln>
        </p:spPr>
        <p:txBody>
          <a:bodyPr/>
          <a:lstStyle/>
          <a:p>
            <a:endParaRPr lang="en-US"/>
          </a:p>
        </p:txBody>
      </p:sp>
      <p:sp>
        <p:nvSpPr>
          <p:cNvPr id="24" name="Shape 21"/>
          <p:cNvSpPr/>
          <p:nvPr/>
        </p:nvSpPr>
        <p:spPr>
          <a:xfrm>
            <a:off x="5415861" y="3067812"/>
            <a:ext cx="568234" cy="708660"/>
          </a:xfrm>
          <a:prstGeom prst="line">
            <a:avLst/>
          </a:prstGeom>
          <a:noFill/>
          <a:ln w="25400">
            <a:solidFill>
              <a:srgbClr val="39FF14"/>
            </a:solidFill>
            <a:prstDash val="solid"/>
          </a:ln>
        </p:spPr>
        <p:txBody>
          <a:bodyPr/>
          <a:lstStyle/>
          <a:p>
            <a:endParaRPr lang="en-US"/>
          </a:p>
        </p:txBody>
      </p:sp>
      <p:sp>
        <p:nvSpPr>
          <p:cNvPr id="25" name="Shape 22"/>
          <p:cNvSpPr/>
          <p:nvPr/>
        </p:nvSpPr>
        <p:spPr>
          <a:xfrm>
            <a:off x="5984095" y="3067812"/>
            <a:ext cx="568234" cy="496062"/>
          </a:xfrm>
          <a:prstGeom prst="line">
            <a:avLst/>
          </a:prstGeom>
          <a:noFill/>
          <a:ln w="25400">
            <a:solidFill>
              <a:srgbClr val="39FF14"/>
            </a:solidFill>
            <a:prstDash val="solid"/>
          </a:ln>
        </p:spPr>
        <p:txBody>
          <a:bodyPr/>
          <a:lstStyle/>
          <a:p>
            <a:endParaRPr lang="en-US"/>
          </a:p>
        </p:txBody>
      </p:sp>
      <p:sp>
        <p:nvSpPr>
          <p:cNvPr id="26" name="Shape 23"/>
          <p:cNvSpPr/>
          <p:nvPr/>
        </p:nvSpPr>
        <p:spPr>
          <a:xfrm>
            <a:off x="6552329" y="3280410"/>
            <a:ext cx="568234" cy="283464"/>
          </a:xfrm>
          <a:prstGeom prst="line">
            <a:avLst/>
          </a:prstGeom>
          <a:noFill/>
          <a:ln w="25400">
            <a:solidFill>
              <a:srgbClr val="39FF14"/>
            </a:solidFill>
            <a:prstDash val="solid"/>
          </a:ln>
        </p:spPr>
        <p:txBody>
          <a:bodyPr/>
          <a:lstStyle/>
          <a:p>
            <a:endParaRPr lang="en-US"/>
          </a:p>
        </p:txBody>
      </p:sp>
      <p:sp>
        <p:nvSpPr>
          <p:cNvPr id="27" name="Shape 24"/>
          <p:cNvSpPr/>
          <p:nvPr/>
        </p:nvSpPr>
        <p:spPr>
          <a:xfrm>
            <a:off x="7120563" y="2996946"/>
            <a:ext cx="568234" cy="283464"/>
          </a:xfrm>
          <a:prstGeom prst="line">
            <a:avLst/>
          </a:prstGeom>
          <a:noFill/>
          <a:ln w="25400">
            <a:solidFill>
              <a:srgbClr val="39FF14"/>
            </a:solidFill>
            <a:prstDash val="solid"/>
          </a:ln>
        </p:spPr>
        <p:txBody>
          <a:bodyPr/>
          <a:lstStyle/>
          <a:p>
            <a:endParaRPr lang="en-US"/>
          </a:p>
        </p:txBody>
      </p:sp>
      <p:sp>
        <p:nvSpPr>
          <p:cNvPr id="28" name="Shape 25"/>
          <p:cNvSpPr/>
          <p:nvPr/>
        </p:nvSpPr>
        <p:spPr>
          <a:xfrm>
            <a:off x="7688798" y="2996946"/>
            <a:ext cx="568234" cy="637794"/>
          </a:xfrm>
          <a:prstGeom prst="line">
            <a:avLst/>
          </a:prstGeom>
          <a:noFill/>
          <a:ln w="25400">
            <a:solidFill>
              <a:srgbClr val="39FF14"/>
            </a:solidFill>
            <a:prstDash val="solid"/>
          </a:ln>
        </p:spPr>
        <p:txBody>
          <a:bodyPr/>
          <a:lstStyle/>
          <a:p>
            <a:endParaRPr lang="en-US"/>
          </a:p>
        </p:txBody>
      </p:sp>
      <p:sp>
        <p:nvSpPr>
          <p:cNvPr id="29" name="Text 26"/>
          <p:cNvSpPr/>
          <p:nvPr/>
        </p:nvSpPr>
        <p:spPr>
          <a:xfrm>
            <a:off x="7955280" y="4864608"/>
            <a:ext cx="1005840" cy="228600"/>
          </a:xfrm>
          <a:prstGeom prst="rect">
            <a:avLst/>
          </a:prstGeom>
          <a:noFill/>
          <a:ln/>
        </p:spPr>
        <p:txBody>
          <a:bodyPr wrap="square" rtlCol="0" anchor="ctr"/>
          <a:lstStyle/>
          <a:p>
            <a:pPr marL="0" indent="0" algn="r">
              <a:buNone/>
            </a:pPr>
            <a:r>
              <a:rPr lang="en-US" sz="900" dirty="0">
                <a:solidFill>
                  <a:srgbClr val="9FB4BD"/>
                </a:solidFill>
                <a:latin typeface="Calibri" pitchFamily="34" charset="0"/>
                <a:ea typeface="Calibri" pitchFamily="34" charset="-122"/>
                <a:cs typeface="Calibri" pitchFamily="34" charset="-120"/>
              </a:rPr>
              <a:t>08 / 10</a:t>
            </a:r>
            <a:endParaRPr lang="en-US" sz="900" dirty="0"/>
          </a:p>
        </p:txBody>
      </p:sp>
      <p:sp>
        <p:nvSpPr>
          <p:cNvPr id="30" name="Text 27"/>
          <p:cNvSpPr/>
          <p:nvPr/>
        </p:nvSpPr>
        <p:spPr>
          <a:xfrm>
            <a:off x="457200" y="4864608"/>
            <a:ext cx="4572000" cy="228600"/>
          </a:xfrm>
          <a:prstGeom prst="rect">
            <a:avLst/>
          </a:prstGeom>
          <a:noFill/>
          <a:ln/>
        </p:spPr>
        <p:txBody>
          <a:bodyPr wrap="square" rtlCol="0" anchor="ctr"/>
          <a:lstStyle/>
          <a:p>
            <a:pPr marL="0" indent="0">
              <a:buNone/>
            </a:pPr>
            <a:r>
              <a:rPr lang="en-US" sz="900" kern="0" spc="200" dirty="0">
                <a:solidFill>
                  <a:srgbClr val="9FB4BD"/>
                </a:solidFill>
                <a:latin typeface="Calibri" pitchFamily="34" charset="0"/>
                <a:ea typeface="Calibri" pitchFamily="34" charset="-122"/>
                <a:cs typeface="Calibri" pitchFamily="34" charset="-120"/>
              </a:rPr>
              <a:t>AI STUDENT IMPACT ANALYSIS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92608"/>
          </a:xfrm>
          <a:prstGeom prst="rect">
            <a:avLst/>
          </a:prstGeom>
          <a:noFill/>
          <a:ln/>
        </p:spPr>
        <p:txBody>
          <a:bodyPr wrap="square" rtlCol="0" anchor="ctr"/>
          <a:lstStyle/>
          <a:p>
            <a:pPr marL="0" indent="0">
              <a:buNone/>
            </a:pPr>
            <a:r>
              <a:rPr lang="en-US" sz="1250" b="1" kern="0" spc="300" dirty="0">
                <a:solidFill>
                  <a:srgbClr val="FF007F"/>
                </a:solidFill>
                <a:latin typeface="Calibri" pitchFamily="34" charset="0"/>
                <a:ea typeface="Calibri" pitchFamily="34" charset="-122"/>
                <a:cs typeface="Calibri" pitchFamily="34" charset="-120"/>
              </a:rPr>
              <a:t>08  ·  KEY TAKEAWAYS</a:t>
            </a:r>
            <a:endParaRPr lang="en-US" sz="1250" dirty="0"/>
          </a:p>
        </p:txBody>
      </p:sp>
      <p:sp>
        <p:nvSpPr>
          <p:cNvPr id="3" name="Text 1"/>
          <p:cNvSpPr/>
          <p:nvPr/>
        </p:nvSpPr>
        <p:spPr>
          <a:xfrm>
            <a:off x="502920" y="566928"/>
            <a:ext cx="8138160" cy="566928"/>
          </a:xfrm>
          <a:prstGeom prst="rect">
            <a:avLst/>
          </a:prstGeom>
          <a:noFill/>
          <a:ln/>
        </p:spPr>
        <p:txBody>
          <a:bodyPr wrap="square" rtlCol="0" anchor="ctr"/>
          <a:lstStyle/>
          <a:p>
            <a:pPr marL="0" indent="0">
              <a:buNone/>
            </a:pPr>
            <a:r>
              <a:rPr lang="en-US" sz="3000" b="1" dirty="0">
                <a:solidFill>
                  <a:srgbClr val="F4FBFD"/>
                </a:solidFill>
                <a:latin typeface="Century Schoolbook" pitchFamily="34" charset="0"/>
                <a:ea typeface="Century Schoolbook" pitchFamily="34" charset="-122"/>
                <a:cs typeface="Century Schoolbook" pitchFamily="34" charset="-120"/>
              </a:rPr>
              <a:t>What the Data Actually Proved</a:t>
            </a:r>
            <a:endParaRPr lang="en-US" sz="3000" dirty="0"/>
          </a:p>
        </p:txBody>
      </p:sp>
      <p:sp>
        <p:nvSpPr>
          <p:cNvPr id="4" name="Shape 2"/>
          <p:cNvSpPr/>
          <p:nvPr/>
        </p:nvSpPr>
        <p:spPr>
          <a:xfrm>
            <a:off x="502920" y="1371600"/>
            <a:ext cx="1965960" cy="3246120"/>
          </a:xfrm>
          <a:prstGeom prst="roundRect">
            <a:avLst>
              <a:gd name="adj" fmla="val 5581"/>
            </a:avLst>
          </a:prstGeom>
          <a:solidFill>
            <a:srgbClr val="1B2D36">
              <a:alpha val="72000"/>
            </a:srgbClr>
          </a:solidFill>
          <a:ln w="9525">
            <a:solidFill>
              <a:srgbClr val="39FF14">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5" name="Image 0" descr="preencoded.png"/>
          <p:cNvPicPr>
            <a:picLocks noChangeAspect="1"/>
          </p:cNvPicPr>
          <p:nvPr/>
        </p:nvPicPr>
        <p:blipFill>
          <a:blip r:embed="rId4"/>
          <a:stretch>
            <a:fillRect/>
          </a:stretch>
        </p:blipFill>
        <p:spPr>
          <a:xfrm>
            <a:off x="667512" y="1609344"/>
            <a:ext cx="402336" cy="402336"/>
          </a:xfrm>
          <a:prstGeom prst="rect">
            <a:avLst/>
          </a:prstGeom>
        </p:spPr>
      </p:pic>
      <p:sp>
        <p:nvSpPr>
          <p:cNvPr id="6" name="Text 3"/>
          <p:cNvSpPr/>
          <p:nvPr/>
        </p:nvSpPr>
        <p:spPr>
          <a:xfrm>
            <a:off x="667512" y="2121408"/>
            <a:ext cx="1655064" cy="685800"/>
          </a:xfrm>
          <a:prstGeom prst="rect">
            <a:avLst/>
          </a:prstGeom>
          <a:noFill/>
          <a:ln/>
        </p:spPr>
        <p:txBody>
          <a:bodyPr wrap="square" rtlCol="0" anchor="ctr"/>
          <a:lstStyle/>
          <a:p>
            <a:pPr marL="0" indent="0">
              <a:lnSpc>
                <a:spcPct val="105000"/>
              </a:lnSpc>
              <a:buNone/>
            </a:pPr>
            <a:r>
              <a:rPr lang="en-US" sz="1250" b="1" dirty="0">
                <a:solidFill>
                  <a:srgbClr val="F4FBFD"/>
                </a:solidFill>
                <a:latin typeface="Century Schoolbook" pitchFamily="34" charset="0"/>
                <a:ea typeface="Century Schoolbook" pitchFamily="34" charset="-122"/>
                <a:cs typeface="Century Schoolbook" pitchFamily="34" charset="-120"/>
              </a:rPr>
              <a:t>Balance Wins</a:t>
            </a:r>
            <a:endParaRPr lang="en-US" sz="1250" dirty="0"/>
          </a:p>
        </p:txBody>
      </p:sp>
      <p:sp>
        <p:nvSpPr>
          <p:cNvPr id="7" name="Text 4"/>
          <p:cNvSpPr/>
          <p:nvPr/>
        </p:nvSpPr>
        <p:spPr>
          <a:xfrm>
            <a:off x="667512" y="2788920"/>
            <a:ext cx="1655064" cy="1691640"/>
          </a:xfrm>
          <a:prstGeom prst="rect">
            <a:avLst/>
          </a:prstGeom>
          <a:noFill/>
          <a:ln/>
        </p:spPr>
        <p:txBody>
          <a:bodyPr wrap="square" rtlCol="0" anchor="ctr"/>
          <a:lstStyle/>
          <a:p>
            <a:pPr marL="0" indent="0">
              <a:lnSpc>
                <a:spcPct val="125000"/>
              </a:lnSpc>
              <a:buNone/>
            </a:pPr>
            <a:r>
              <a:rPr lang="en-US" sz="1000" dirty="0">
                <a:solidFill>
                  <a:srgbClr val="9FB4BD"/>
                </a:solidFill>
                <a:latin typeface="Calibri" pitchFamily="34" charset="0"/>
                <a:ea typeface="Calibri" pitchFamily="34" charset="-122"/>
                <a:cs typeface="Calibri" pitchFamily="34" charset="-120"/>
              </a:rPr>
              <a:t>Moderate, balanced AI usage correlates with a measurable GPA boost versus non-users.</a:t>
            </a:r>
            <a:endParaRPr lang="en-US" sz="1000" dirty="0"/>
          </a:p>
        </p:txBody>
      </p:sp>
      <p:sp>
        <p:nvSpPr>
          <p:cNvPr id="8" name="Shape 5"/>
          <p:cNvSpPr/>
          <p:nvPr/>
        </p:nvSpPr>
        <p:spPr>
          <a:xfrm>
            <a:off x="2615184" y="1371600"/>
            <a:ext cx="1965960" cy="3246120"/>
          </a:xfrm>
          <a:prstGeom prst="roundRect">
            <a:avLst>
              <a:gd name="adj" fmla="val 5581"/>
            </a:avLst>
          </a:prstGeom>
          <a:solidFill>
            <a:srgbClr val="1B2D36">
              <a:alpha val="72000"/>
            </a:srgbClr>
          </a:solidFill>
          <a:ln w="9525">
            <a:solidFill>
              <a:srgbClr val="FF007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9" name="Image 1" descr="preencoded.png"/>
          <p:cNvPicPr>
            <a:picLocks noChangeAspect="1"/>
          </p:cNvPicPr>
          <p:nvPr/>
        </p:nvPicPr>
        <p:blipFill>
          <a:blip r:embed="rId5"/>
          <a:stretch>
            <a:fillRect/>
          </a:stretch>
        </p:blipFill>
        <p:spPr>
          <a:xfrm>
            <a:off x="2779776" y="1609344"/>
            <a:ext cx="402336" cy="402336"/>
          </a:xfrm>
          <a:prstGeom prst="rect">
            <a:avLst/>
          </a:prstGeom>
        </p:spPr>
      </p:pic>
      <p:sp>
        <p:nvSpPr>
          <p:cNvPr id="10" name="Text 6"/>
          <p:cNvSpPr/>
          <p:nvPr/>
        </p:nvSpPr>
        <p:spPr>
          <a:xfrm>
            <a:off x="2779776" y="2121408"/>
            <a:ext cx="1655064" cy="685800"/>
          </a:xfrm>
          <a:prstGeom prst="rect">
            <a:avLst/>
          </a:prstGeom>
          <a:noFill/>
          <a:ln/>
        </p:spPr>
        <p:txBody>
          <a:bodyPr wrap="square" rtlCol="0" anchor="ctr"/>
          <a:lstStyle/>
          <a:p>
            <a:pPr marL="0" indent="0">
              <a:lnSpc>
                <a:spcPct val="105000"/>
              </a:lnSpc>
              <a:buNone/>
            </a:pPr>
            <a:r>
              <a:rPr lang="en-US" sz="1250" b="1" dirty="0">
                <a:solidFill>
                  <a:srgbClr val="F4FBFD"/>
                </a:solidFill>
                <a:latin typeface="Century Schoolbook" pitchFamily="34" charset="0"/>
                <a:ea typeface="Century Schoolbook" pitchFamily="34" charset="-122"/>
                <a:cs typeface="Century Schoolbook" pitchFamily="34" charset="-120"/>
              </a:rPr>
              <a:t>Over-Reliance Hurts</a:t>
            </a:r>
            <a:endParaRPr lang="en-US" sz="1250" dirty="0"/>
          </a:p>
        </p:txBody>
      </p:sp>
      <p:sp>
        <p:nvSpPr>
          <p:cNvPr id="11" name="Text 7"/>
          <p:cNvSpPr/>
          <p:nvPr/>
        </p:nvSpPr>
        <p:spPr>
          <a:xfrm>
            <a:off x="2779776" y="2788920"/>
            <a:ext cx="1655064" cy="1691640"/>
          </a:xfrm>
          <a:prstGeom prst="rect">
            <a:avLst/>
          </a:prstGeom>
          <a:noFill/>
          <a:ln/>
        </p:spPr>
        <p:txBody>
          <a:bodyPr wrap="square" rtlCol="0" anchor="ctr"/>
          <a:lstStyle/>
          <a:p>
            <a:pPr marL="0" indent="0">
              <a:lnSpc>
                <a:spcPct val="125000"/>
              </a:lnSpc>
              <a:buNone/>
            </a:pPr>
            <a:r>
              <a:rPr lang="en-US" sz="1000" dirty="0">
                <a:solidFill>
                  <a:srgbClr val="9FB4BD"/>
                </a:solidFill>
                <a:latin typeface="Calibri" pitchFamily="34" charset="0"/>
                <a:ea typeface="Calibri" pitchFamily="34" charset="-122"/>
                <a:cs typeface="Calibri" pitchFamily="34" charset="-120"/>
              </a:rPr>
              <a:t>High AI dependency sharply erodes foundational skill retention scores.</a:t>
            </a:r>
            <a:endParaRPr lang="en-US" sz="1000" dirty="0"/>
          </a:p>
        </p:txBody>
      </p:sp>
      <p:sp>
        <p:nvSpPr>
          <p:cNvPr id="12" name="Shape 8"/>
          <p:cNvSpPr/>
          <p:nvPr/>
        </p:nvSpPr>
        <p:spPr>
          <a:xfrm>
            <a:off x="4727448" y="1371600"/>
            <a:ext cx="1965960" cy="3246120"/>
          </a:xfrm>
          <a:prstGeom prst="roundRect">
            <a:avLst>
              <a:gd name="adj" fmla="val 5581"/>
            </a:avLst>
          </a:prstGeom>
          <a:solidFill>
            <a:srgbClr val="1B2D36">
              <a:alpha val="72000"/>
            </a:srgbClr>
          </a:solidFill>
          <a:ln w="9525">
            <a:solidFill>
              <a:srgbClr val="00D2F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13" name="Image 2" descr="preencoded.png"/>
          <p:cNvPicPr>
            <a:picLocks noChangeAspect="1"/>
          </p:cNvPicPr>
          <p:nvPr/>
        </p:nvPicPr>
        <p:blipFill>
          <a:blip r:embed="rId6"/>
          <a:stretch>
            <a:fillRect/>
          </a:stretch>
        </p:blipFill>
        <p:spPr>
          <a:xfrm>
            <a:off x="4892040" y="1609344"/>
            <a:ext cx="402336" cy="402336"/>
          </a:xfrm>
          <a:prstGeom prst="rect">
            <a:avLst/>
          </a:prstGeom>
        </p:spPr>
      </p:pic>
      <p:sp>
        <p:nvSpPr>
          <p:cNvPr id="14" name="Text 9"/>
          <p:cNvSpPr/>
          <p:nvPr/>
        </p:nvSpPr>
        <p:spPr>
          <a:xfrm>
            <a:off x="4892040" y="2121408"/>
            <a:ext cx="1655064" cy="685800"/>
          </a:xfrm>
          <a:prstGeom prst="rect">
            <a:avLst/>
          </a:prstGeom>
          <a:noFill/>
          <a:ln/>
        </p:spPr>
        <p:txBody>
          <a:bodyPr wrap="square" rtlCol="0" anchor="ctr"/>
          <a:lstStyle/>
          <a:p>
            <a:pPr marL="0" indent="0">
              <a:lnSpc>
                <a:spcPct val="105000"/>
              </a:lnSpc>
              <a:buNone/>
            </a:pPr>
            <a:r>
              <a:rPr lang="en-US" sz="1250" b="1" dirty="0">
                <a:solidFill>
                  <a:srgbClr val="F4FBFD"/>
                </a:solidFill>
                <a:latin typeface="Century Schoolbook" pitchFamily="34" charset="0"/>
                <a:ea typeface="Century Schoolbook" pitchFamily="34" charset="-122"/>
                <a:cs typeface="Century Schoolbook" pitchFamily="34" charset="-120"/>
              </a:rPr>
              <a:t>Burnout Risk Climbs</a:t>
            </a:r>
            <a:endParaRPr lang="en-US" sz="1250" dirty="0"/>
          </a:p>
        </p:txBody>
      </p:sp>
      <p:sp>
        <p:nvSpPr>
          <p:cNvPr id="15" name="Text 10"/>
          <p:cNvSpPr/>
          <p:nvPr/>
        </p:nvSpPr>
        <p:spPr>
          <a:xfrm>
            <a:off x="4892040" y="2788920"/>
            <a:ext cx="1655064" cy="1691640"/>
          </a:xfrm>
          <a:prstGeom prst="rect">
            <a:avLst/>
          </a:prstGeom>
          <a:noFill/>
          <a:ln/>
        </p:spPr>
        <p:txBody>
          <a:bodyPr wrap="square" rtlCol="0" anchor="ctr"/>
          <a:lstStyle/>
          <a:p>
            <a:pPr marL="0" indent="0">
              <a:lnSpc>
                <a:spcPct val="125000"/>
              </a:lnSpc>
              <a:buNone/>
            </a:pPr>
            <a:r>
              <a:rPr lang="en-US" sz="1000" dirty="0">
                <a:solidFill>
                  <a:srgbClr val="9FB4BD"/>
                </a:solidFill>
                <a:latin typeface="Calibri" pitchFamily="34" charset="0"/>
                <a:ea typeface="Calibri" pitchFamily="34" charset="-122"/>
                <a:cs typeface="Calibri" pitchFamily="34" charset="-120"/>
              </a:rPr>
              <a:t>Hyper-dependent students show the steepest rise in the Burnout Index.</a:t>
            </a:r>
            <a:endParaRPr lang="en-US" sz="1000" dirty="0"/>
          </a:p>
        </p:txBody>
      </p:sp>
      <p:sp>
        <p:nvSpPr>
          <p:cNvPr id="16" name="Shape 11"/>
          <p:cNvSpPr/>
          <p:nvPr/>
        </p:nvSpPr>
        <p:spPr>
          <a:xfrm>
            <a:off x="6839712" y="1371600"/>
            <a:ext cx="1965960" cy="3246120"/>
          </a:xfrm>
          <a:prstGeom prst="roundRect">
            <a:avLst>
              <a:gd name="adj" fmla="val 5581"/>
            </a:avLst>
          </a:prstGeom>
          <a:solidFill>
            <a:srgbClr val="1B2D36">
              <a:alpha val="72000"/>
            </a:srgbClr>
          </a:solidFill>
          <a:ln w="9525">
            <a:solidFill>
              <a:srgbClr val="39FF14">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17" name="Image 3" descr="preencoded.png"/>
          <p:cNvPicPr>
            <a:picLocks noChangeAspect="1"/>
          </p:cNvPicPr>
          <p:nvPr/>
        </p:nvPicPr>
        <p:blipFill>
          <a:blip r:embed="rId7"/>
          <a:stretch>
            <a:fillRect/>
          </a:stretch>
        </p:blipFill>
        <p:spPr>
          <a:xfrm>
            <a:off x="7004304" y="1609344"/>
            <a:ext cx="402336" cy="402336"/>
          </a:xfrm>
          <a:prstGeom prst="rect">
            <a:avLst/>
          </a:prstGeom>
        </p:spPr>
      </p:pic>
      <p:sp>
        <p:nvSpPr>
          <p:cNvPr id="18" name="Text 12"/>
          <p:cNvSpPr/>
          <p:nvPr/>
        </p:nvSpPr>
        <p:spPr>
          <a:xfrm>
            <a:off x="7004304" y="2121408"/>
            <a:ext cx="1655064" cy="685800"/>
          </a:xfrm>
          <a:prstGeom prst="rect">
            <a:avLst/>
          </a:prstGeom>
          <a:noFill/>
          <a:ln/>
        </p:spPr>
        <p:txBody>
          <a:bodyPr wrap="square" rtlCol="0" anchor="ctr"/>
          <a:lstStyle/>
          <a:p>
            <a:pPr marL="0" indent="0">
              <a:lnSpc>
                <a:spcPct val="105000"/>
              </a:lnSpc>
              <a:buNone/>
            </a:pPr>
            <a:r>
              <a:rPr lang="en-US" sz="1250" b="1" dirty="0">
                <a:solidFill>
                  <a:srgbClr val="F4FBFD"/>
                </a:solidFill>
                <a:latin typeface="Century Schoolbook" pitchFamily="34" charset="0"/>
                <a:ea typeface="Century Schoolbook" pitchFamily="34" charset="-122"/>
                <a:cs typeface="Century Schoolbook" pitchFamily="34" charset="-120"/>
              </a:rPr>
              <a:t>Personas &gt; Averages</a:t>
            </a:r>
            <a:endParaRPr lang="en-US" sz="1250" dirty="0"/>
          </a:p>
        </p:txBody>
      </p:sp>
      <p:sp>
        <p:nvSpPr>
          <p:cNvPr id="19" name="Text 13"/>
          <p:cNvSpPr/>
          <p:nvPr/>
        </p:nvSpPr>
        <p:spPr>
          <a:xfrm>
            <a:off x="7004304" y="2788920"/>
            <a:ext cx="1655064" cy="1691640"/>
          </a:xfrm>
          <a:prstGeom prst="rect">
            <a:avLst/>
          </a:prstGeom>
          <a:noFill/>
          <a:ln/>
        </p:spPr>
        <p:txBody>
          <a:bodyPr wrap="square" rtlCol="0" anchor="ctr"/>
          <a:lstStyle/>
          <a:p>
            <a:pPr marL="0" indent="0">
              <a:lnSpc>
                <a:spcPct val="125000"/>
              </a:lnSpc>
              <a:buNone/>
            </a:pPr>
            <a:r>
              <a:rPr lang="en-US" sz="1000" dirty="0">
                <a:solidFill>
                  <a:srgbClr val="9FB4BD"/>
                </a:solidFill>
                <a:latin typeface="Calibri" pitchFamily="34" charset="0"/>
                <a:ea typeface="Calibri" pitchFamily="34" charset="-122"/>
                <a:cs typeface="Calibri" pitchFamily="34" charset="-120"/>
              </a:rPr>
              <a:t>Population-wide averages hide the real story — the 8 clusters reveal it.</a:t>
            </a:r>
            <a:endParaRPr lang="en-US" sz="1000" dirty="0"/>
          </a:p>
        </p:txBody>
      </p:sp>
      <p:sp>
        <p:nvSpPr>
          <p:cNvPr id="20" name="Text 14"/>
          <p:cNvSpPr/>
          <p:nvPr/>
        </p:nvSpPr>
        <p:spPr>
          <a:xfrm>
            <a:off x="7955280" y="4864608"/>
            <a:ext cx="1005840" cy="228600"/>
          </a:xfrm>
          <a:prstGeom prst="rect">
            <a:avLst/>
          </a:prstGeom>
          <a:noFill/>
          <a:ln/>
        </p:spPr>
        <p:txBody>
          <a:bodyPr wrap="square" rtlCol="0" anchor="ctr"/>
          <a:lstStyle/>
          <a:p>
            <a:pPr marL="0" indent="0" algn="r">
              <a:buNone/>
            </a:pPr>
            <a:r>
              <a:rPr lang="en-US" sz="900" dirty="0">
                <a:solidFill>
                  <a:srgbClr val="9FB4BD"/>
                </a:solidFill>
                <a:latin typeface="Calibri" pitchFamily="34" charset="0"/>
                <a:ea typeface="Calibri" pitchFamily="34" charset="-122"/>
                <a:cs typeface="Calibri" pitchFamily="34" charset="-120"/>
              </a:rPr>
              <a:t>09 / 10</a:t>
            </a:r>
            <a:endParaRPr lang="en-US" sz="900" dirty="0"/>
          </a:p>
        </p:txBody>
      </p:sp>
      <p:sp>
        <p:nvSpPr>
          <p:cNvPr id="21" name="Text 15"/>
          <p:cNvSpPr/>
          <p:nvPr/>
        </p:nvSpPr>
        <p:spPr>
          <a:xfrm>
            <a:off x="457200" y="4864608"/>
            <a:ext cx="4572000" cy="228600"/>
          </a:xfrm>
          <a:prstGeom prst="rect">
            <a:avLst/>
          </a:prstGeom>
          <a:noFill/>
          <a:ln/>
        </p:spPr>
        <p:txBody>
          <a:bodyPr wrap="square" rtlCol="0" anchor="ctr"/>
          <a:lstStyle/>
          <a:p>
            <a:pPr marL="0" indent="0">
              <a:buNone/>
            </a:pPr>
            <a:r>
              <a:rPr lang="en-US" sz="900" kern="0" spc="200" dirty="0">
                <a:solidFill>
                  <a:srgbClr val="9FB4BD"/>
                </a:solidFill>
                <a:latin typeface="Calibri" pitchFamily="34" charset="0"/>
                <a:ea typeface="Calibri" pitchFamily="34" charset="-122"/>
                <a:cs typeface="Calibri" pitchFamily="34" charset="-120"/>
              </a:rPr>
              <a:t>AI STUDENT IMPACT ANALYSIS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548640" y="502920"/>
            <a:ext cx="548640" cy="548640"/>
          </a:xfrm>
          <a:prstGeom prst="rect">
            <a:avLst/>
          </a:prstGeom>
        </p:spPr>
      </p:pic>
      <p:sp>
        <p:nvSpPr>
          <p:cNvPr id="3" name="Text 0"/>
          <p:cNvSpPr/>
          <p:nvPr/>
        </p:nvSpPr>
        <p:spPr>
          <a:xfrm>
            <a:off x="1188720" y="548640"/>
            <a:ext cx="3657600" cy="457200"/>
          </a:xfrm>
          <a:prstGeom prst="rect">
            <a:avLst/>
          </a:prstGeom>
          <a:noFill/>
          <a:ln/>
        </p:spPr>
        <p:txBody>
          <a:bodyPr wrap="square" rtlCol="0" anchor="ctr"/>
          <a:lstStyle/>
          <a:p>
            <a:pPr marL="0" indent="0">
              <a:buNone/>
            </a:pPr>
            <a:r>
              <a:rPr lang="en-US" sz="1300" b="1" kern="0" spc="300" dirty="0">
                <a:solidFill>
                  <a:srgbClr val="39FF14"/>
                </a:solidFill>
                <a:latin typeface="Calibri" pitchFamily="34" charset="0"/>
                <a:ea typeface="Calibri" pitchFamily="34" charset="-122"/>
                <a:cs typeface="Calibri" pitchFamily="34" charset="-120"/>
              </a:rPr>
              <a:t>CONCLUSION</a:t>
            </a:r>
            <a:endParaRPr lang="en-US" sz="1300" dirty="0"/>
          </a:p>
        </p:txBody>
      </p:sp>
      <p:sp>
        <p:nvSpPr>
          <p:cNvPr id="4" name="Text 1"/>
          <p:cNvSpPr/>
          <p:nvPr/>
        </p:nvSpPr>
        <p:spPr>
          <a:xfrm>
            <a:off x="548640" y="1371600"/>
            <a:ext cx="8046720" cy="1371600"/>
          </a:xfrm>
          <a:prstGeom prst="rect">
            <a:avLst/>
          </a:prstGeom>
          <a:noFill/>
          <a:ln/>
        </p:spPr>
        <p:txBody>
          <a:bodyPr wrap="square" rtlCol="0" anchor="ctr"/>
          <a:lstStyle/>
          <a:p>
            <a:pPr marL="0" indent="0">
              <a:lnSpc>
                <a:spcPct val="112000"/>
              </a:lnSpc>
              <a:buNone/>
            </a:pPr>
            <a:r>
              <a:rPr lang="en-US" sz="2700" b="1" dirty="0">
                <a:solidFill>
                  <a:srgbClr val="F4FBFD"/>
                </a:solidFill>
                <a:latin typeface="Century Schoolbook" pitchFamily="34" charset="0"/>
                <a:ea typeface="Century Schoolbook" pitchFamily="34" charset="-122"/>
                <a:cs typeface="Century Schoolbook" pitchFamily="34" charset="-120"/>
              </a:rPr>
              <a:t>The Future of Learning Is Not</a:t>
            </a:r>
            <a:endParaRPr lang="en-US" sz="2700" dirty="0"/>
          </a:p>
          <a:p>
            <a:pPr marL="0" indent="0">
              <a:lnSpc>
                <a:spcPct val="112000"/>
              </a:lnSpc>
              <a:buNone/>
            </a:pPr>
            <a:r>
              <a:rPr lang="en-US" sz="2700" b="1" dirty="0">
                <a:solidFill>
                  <a:srgbClr val="F4FBFD"/>
                </a:solidFill>
                <a:latin typeface="Century Schoolbook" pitchFamily="34" charset="0"/>
                <a:ea typeface="Century Schoolbook" pitchFamily="34" charset="-122"/>
                <a:cs typeface="Century Schoolbook" pitchFamily="34" charset="-120"/>
              </a:rPr>
              <a:t>AI vs. Human — It's AI + Human.</a:t>
            </a:r>
            <a:endParaRPr lang="en-US" sz="2700" dirty="0"/>
          </a:p>
        </p:txBody>
      </p:sp>
      <p:sp>
        <p:nvSpPr>
          <p:cNvPr id="5" name="Text 2"/>
          <p:cNvSpPr/>
          <p:nvPr/>
        </p:nvSpPr>
        <p:spPr>
          <a:xfrm>
            <a:off x="548640" y="2697480"/>
            <a:ext cx="7863840" cy="914400"/>
          </a:xfrm>
          <a:prstGeom prst="rect">
            <a:avLst/>
          </a:prstGeom>
          <a:noFill/>
          <a:ln/>
        </p:spPr>
        <p:txBody>
          <a:bodyPr wrap="square" rtlCol="0" anchor="ctr"/>
          <a:lstStyle/>
          <a:p>
            <a:pPr marL="0" indent="0">
              <a:lnSpc>
                <a:spcPct val="125000"/>
              </a:lnSpc>
              <a:buNone/>
            </a:pPr>
            <a:r>
              <a:rPr lang="en-US" sz="1350" i="1" dirty="0">
                <a:solidFill>
                  <a:srgbClr val="9FB4BD"/>
                </a:solidFill>
                <a:latin typeface="Calibri" pitchFamily="34" charset="0"/>
                <a:ea typeface="Calibri" pitchFamily="34" charset="-122"/>
                <a:cs typeface="Calibri" pitchFamily="34" charset="-120"/>
              </a:rPr>
              <a:t>The data shows Generative AI is neither a shortcut to failure nor a silver bullet — it's a force multiplier that rewards intentional, balanced use and punishes over-reliance. The path forward is building systems, like this dashboard, that guide students toward that balance.</a:t>
            </a:r>
            <a:endParaRPr lang="en-US" sz="1350" dirty="0"/>
          </a:p>
        </p:txBody>
      </p:sp>
      <p:sp>
        <p:nvSpPr>
          <p:cNvPr id="6" name="Shape 3"/>
          <p:cNvSpPr/>
          <p:nvPr/>
        </p:nvSpPr>
        <p:spPr>
          <a:xfrm>
            <a:off x="548640" y="3703320"/>
            <a:ext cx="7863840" cy="1051560"/>
          </a:xfrm>
          <a:prstGeom prst="roundRect">
            <a:avLst>
              <a:gd name="adj" fmla="val 10435"/>
            </a:avLst>
          </a:prstGeom>
          <a:solidFill>
            <a:srgbClr val="1B2D36">
              <a:alpha val="72000"/>
            </a:srgbClr>
          </a:solidFill>
          <a:ln w="9525">
            <a:solidFill>
              <a:srgbClr val="00D2FF">
                <a:alpha val="45000"/>
              </a:srgbClr>
            </a:solidFill>
            <a:prstDash val="solid"/>
          </a:ln>
          <a:effectLst>
            <a:outerShdw blurRad="127000" dist="38100" dir="5400000" algn="bl" rotWithShape="0">
              <a:srgbClr val="000000">
                <a:alpha val="35000"/>
              </a:srgbClr>
            </a:outerShdw>
          </a:effectLst>
        </p:spPr>
        <p:txBody>
          <a:bodyPr/>
          <a:lstStyle/>
          <a:p>
            <a:endParaRPr lang="en-US"/>
          </a:p>
        </p:txBody>
      </p:sp>
      <p:pic>
        <p:nvPicPr>
          <p:cNvPr id="7" name="Image 1" descr="preencoded.png"/>
          <p:cNvPicPr>
            <a:picLocks noChangeAspect="1"/>
          </p:cNvPicPr>
          <p:nvPr/>
        </p:nvPicPr>
        <p:blipFill>
          <a:blip r:embed="rId5"/>
          <a:stretch>
            <a:fillRect/>
          </a:stretch>
        </p:blipFill>
        <p:spPr>
          <a:xfrm>
            <a:off x="822960" y="3950208"/>
            <a:ext cx="548640" cy="548640"/>
          </a:xfrm>
          <a:prstGeom prst="rect">
            <a:avLst/>
          </a:prstGeom>
        </p:spPr>
      </p:pic>
      <p:sp>
        <p:nvSpPr>
          <p:cNvPr id="8" name="Text 4"/>
          <p:cNvSpPr/>
          <p:nvPr/>
        </p:nvSpPr>
        <p:spPr>
          <a:xfrm>
            <a:off x="1554480" y="3886200"/>
            <a:ext cx="2743200" cy="411480"/>
          </a:xfrm>
          <a:prstGeom prst="rect">
            <a:avLst/>
          </a:prstGeom>
          <a:noFill/>
          <a:ln/>
        </p:spPr>
        <p:txBody>
          <a:bodyPr wrap="square" rtlCol="0" anchor="ctr"/>
          <a:lstStyle/>
          <a:p>
            <a:pPr marL="0" indent="0">
              <a:buNone/>
            </a:pPr>
            <a:r>
              <a:rPr lang="en-US" sz="2000" b="1" dirty="0">
                <a:solidFill>
                  <a:srgbClr val="00D2FF"/>
                </a:solidFill>
                <a:latin typeface="Century Schoolbook" pitchFamily="34" charset="0"/>
                <a:ea typeface="Century Schoolbook" pitchFamily="34" charset="-122"/>
                <a:cs typeface="Century Schoolbook" pitchFamily="34" charset="-120"/>
              </a:rPr>
              <a:t>Thank You</a:t>
            </a:r>
            <a:endParaRPr lang="en-US" sz="2000" dirty="0"/>
          </a:p>
        </p:txBody>
      </p:sp>
      <p:sp>
        <p:nvSpPr>
          <p:cNvPr id="9" name="Text 5"/>
          <p:cNvSpPr/>
          <p:nvPr/>
        </p:nvSpPr>
        <p:spPr>
          <a:xfrm>
            <a:off x="1554480" y="4297680"/>
            <a:ext cx="3657600" cy="320040"/>
          </a:xfrm>
          <a:prstGeom prst="rect">
            <a:avLst/>
          </a:prstGeom>
          <a:noFill/>
          <a:ln/>
        </p:spPr>
        <p:txBody>
          <a:bodyPr wrap="square" rtlCol="0" anchor="ctr"/>
          <a:lstStyle/>
          <a:p>
            <a:pPr marL="0" indent="0">
              <a:buNone/>
            </a:pPr>
            <a:r>
              <a:rPr lang="en-US" sz="1200" i="1" dirty="0">
                <a:solidFill>
                  <a:srgbClr val="9FB4BD"/>
                </a:solidFill>
                <a:latin typeface="Calibri" pitchFamily="34" charset="0"/>
                <a:ea typeface="Calibri" pitchFamily="34" charset="-122"/>
                <a:cs typeface="Calibri" pitchFamily="34" charset="-120"/>
              </a:rPr>
              <a:t>Questions &amp; Discussion Welcome</a:t>
            </a:r>
            <a:endParaRPr lang="en-US" sz="1200" dirty="0"/>
          </a:p>
        </p:txBody>
      </p:sp>
      <p:sp>
        <p:nvSpPr>
          <p:cNvPr id="10" name="Text 6"/>
          <p:cNvSpPr/>
          <p:nvPr/>
        </p:nvSpPr>
        <p:spPr>
          <a:xfrm>
            <a:off x="7955280" y="4864608"/>
            <a:ext cx="1005840" cy="228600"/>
          </a:xfrm>
          <a:prstGeom prst="rect">
            <a:avLst/>
          </a:prstGeom>
          <a:noFill/>
          <a:ln/>
        </p:spPr>
        <p:txBody>
          <a:bodyPr wrap="square" rtlCol="0" anchor="ctr"/>
          <a:lstStyle/>
          <a:p>
            <a:pPr marL="0" indent="0" algn="r">
              <a:buNone/>
            </a:pPr>
            <a:r>
              <a:rPr lang="en-US" sz="900" dirty="0">
                <a:solidFill>
                  <a:srgbClr val="9FB4BD"/>
                </a:solidFill>
                <a:latin typeface="Calibri" pitchFamily="34" charset="0"/>
                <a:ea typeface="Calibri" pitchFamily="34" charset="-122"/>
                <a:cs typeface="Calibri" pitchFamily="34" charset="-120"/>
              </a:rPr>
              <a:t>10 / 10</a:t>
            </a:r>
            <a:endParaRPr lang="en-US" sz="900" dirty="0"/>
          </a:p>
        </p:txBody>
      </p:sp>
      <p:sp>
        <p:nvSpPr>
          <p:cNvPr id="11" name="Text 7"/>
          <p:cNvSpPr/>
          <p:nvPr/>
        </p:nvSpPr>
        <p:spPr>
          <a:xfrm>
            <a:off x="457200" y="4864608"/>
            <a:ext cx="4572000" cy="228600"/>
          </a:xfrm>
          <a:prstGeom prst="rect">
            <a:avLst/>
          </a:prstGeom>
          <a:noFill/>
          <a:ln/>
        </p:spPr>
        <p:txBody>
          <a:bodyPr wrap="square" rtlCol="0" anchor="ctr"/>
          <a:lstStyle/>
          <a:p>
            <a:pPr marL="0" indent="0">
              <a:buNone/>
            </a:pPr>
            <a:r>
              <a:rPr lang="en-US" sz="900" kern="0" spc="200" dirty="0">
                <a:solidFill>
                  <a:srgbClr val="9FB4BD"/>
                </a:solidFill>
                <a:latin typeface="Calibri" pitchFamily="34" charset="0"/>
                <a:ea typeface="Calibri" pitchFamily="34" charset="-122"/>
                <a:cs typeface="Calibri" pitchFamily="34" charset="-120"/>
              </a:rPr>
              <a:t>AI STUDENT IMPACT ANALYSIS</a:t>
            </a:r>
            <a:endParaRPr lang="en-US" sz="900" dirty="0"/>
          </a:p>
        </p:txBody>
      </p:sp>
      <p:pic>
        <p:nvPicPr>
          <p:cNvPr id="13" name="Picture 12">
            <a:extLst>
              <a:ext uri="{FF2B5EF4-FFF2-40B4-BE49-F238E27FC236}">
                <a16:creationId xmlns:a16="http://schemas.microsoft.com/office/drawing/2014/main" id="{481697C6-8118-4AF9-B566-6EEC009F171C}"/>
              </a:ext>
            </a:extLst>
          </p:cNvPr>
          <p:cNvPicPr>
            <a:picLocks noChangeAspect="1"/>
          </p:cNvPicPr>
          <p:nvPr/>
        </p:nvPicPr>
        <p:blipFill>
          <a:blip r:embed="rId6"/>
          <a:stretch>
            <a:fillRect/>
          </a:stretch>
        </p:blipFill>
        <p:spPr>
          <a:xfrm>
            <a:off x="7389182" y="3721608"/>
            <a:ext cx="1005010" cy="100501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1700</Words>
  <Application>Microsoft Office PowerPoint</Application>
  <PresentationFormat>On-screen Show (16:9)</PresentationFormat>
  <Paragraphs>135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 Schoolbook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Student Impact Analysis</dc:title>
  <dc:subject>PptxGenJS Presentation</dc:subject>
  <dc:creator>AI Student Impact Analysis</dc:creator>
  <cp:lastModifiedBy>Bassem Ramadan</cp:lastModifiedBy>
  <cp:revision>2</cp:revision>
  <dcterms:created xsi:type="dcterms:W3CDTF">2026-07-08T22:05:57Z</dcterms:created>
  <dcterms:modified xsi:type="dcterms:W3CDTF">2026-07-08T22:21:06Z</dcterms:modified>
</cp:coreProperties>
</file>